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27" r:id="rId3"/>
    <p:sldId id="527" r:id="rId4"/>
    <p:sldId id="433" r:id="rId5"/>
    <p:sldId id="435" r:id="rId6"/>
    <p:sldId id="437" r:id="rId7"/>
    <p:sldId id="439" r:id="rId8"/>
    <p:sldId id="429" r:id="rId9"/>
    <p:sldId id="431" r:id="rId10"/>
    <p:sldId id="257" r:id="rId11"/>
    <p:sldId id="453" r:id="rId12"/>
    <p:sldId id="455" r:id="rId13"/>
    <p:sldId id="457" r:id="rId14"/>
    <p:sldId id="459" r:id="rId15"/>
    <p:sldId id="461" r:id="rId16"/>
    <p:sldId id="463" r:id="rId17"/>
    <p:sldId id="464" r:id="rId18"/>
    <p:sldId id="465" r:id="rId19"/>
    <p:sldId id="537" r:id="rId20"/>
    <p:sldId id="532" r:id="rId21"/>
    <p:sldId id="534" r:id="rId22"/>
    <p:sldId id="536" r:id="rId23"/>
    <p:sldId id="535" r:id="rId24"/>
    <p:sldId id="466" r:id="rId25"/>
    <p:sldId id="486" r:id="rId26"/>
    <p:sldId id="488" r:id="rId27"/>
    <p:sldId id="467" r:id="rId28"/>
    <p:sldId id="490" r:id="rId29"/>
    <p:sldId id="468" r:id="rId30"/>
    <p:sldId id="538" r:id="rId31"/>
    <p:sldId id="511" r:id="rId32"/>
    <p:sldId id="502" r:id="rId33"/>
    <p:sldId id="503" r:id="rId34"/>
    <p:sldId id="504" r:id="rId35"/>
    <p:sldId id="505" r:id="rId36"/>
    <p:sldId id="519" r:id="rId37"/>
    <p:sldId id="520" r:id="rId38"/>
    <p:sldId id="514" r:id="rId39"/>
    <p:sldId id="479" r:id="rId40"/>
    <p:sldId id="523" r:id="rId41"/>
    <p:sldId id="261" r:id="rId42"/>
    <p:sldId id="262" r:id="rId43"/>
    <p:sldId id="263" r:id="rId44"/>
    <p:sldId id="264" r:id="rId45"/>
    <p:sldId id="266" r:id="rId46"/>
    <p:sldId id="267" r:id="rId47"/>
    <p:sldId id="268" r:id="rId48"/>
    <p:sldId id="269" r:id="rId49"/>
    <p:sldId id="270" r:id="rId50"/>
    <p:sldId id="539"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ruthi V Kumar"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2A9B5FB-C1A3-4350-A024-FE4080026A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2A9B5FB-C1A3-4350-A024-FE4080026A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02A9B5FB-C1A3-4350-A024-FE4080026A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02A9B5FB-C1A3-4350-A024-FE4080026A2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02A9B5FB-C1A3-4350-A024-FE4080026A2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A9B5FB-C1A3-4350-A024-FE4080026A2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9B5FB-C1A3-4350-A024-FE4080026A2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02A9B5FB-C1A3-4350-A024-FE4080026A2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02A9B5FB-C1A3-4350-A024-FE4080026A2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2A9B5FB-C1A3-4350-A024-FE4080026A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2A9B5FB-C1A3-4350-A024-FE4080026A2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114AF3-1C21-4E6C-A90B-4E91CF02D08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9B5FB-C1A3-4350-A024-FE4080026A23}"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14AF3-1C21-4E6C-A90B-4E91CF02D08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91770"/>
            <a:ext cx="11475720" cy="6556375"/>
          </a:xfrm>
        </p:spPr>
        <p:txBody>
          <a:bodyPr>
            <a:normAutofit fontScale="77500" lnSpcReduction="20000"/>
          </a:bodyPr>
          <a:lstStyle/>
          <a:p>
            <a:pPr marL="274320" marR="0" lvl="0" indent="-274320" algn="ctr"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None/>
              <a:defRPr/>
            </a:pPr>
            <a:r>
              <a:rPr lang="en-US" sz="6000" b="1" noProof="0" dirty="0" smtClean="0">
                <a:ln>
                  <a:noFill/>
                </a:ln>
                <a:effectLst/>
                <a:uLnTx/>
                <a:uFillTx/>
                <a:latin typeface="Times New Roman" panose="02020603050405020304" pitchFamily="18" charset="0"/>
                <a:cs typeface="Times New Roman" panose="02020603050405020304" pitchFamily="18" charset="0"/>
                <a:sym typeface="+mn-ea"/>
              </a:rPr>
              <a:t>UNIVERSITY OF RWANDA </a:t>
            </a:r>
            <a:endParaRPr kumimoji="0" lang="en-US" sz="6000" b="1" i="0" u="none"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endParaRPr>
          </a:p>
          <a:p>
            <a:pPr marL="274320" marR="0" lvl="0" indent="-274320" algn="ctr"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None/>
              <a:defRPr/>
            </a:pPr>
            <a:r>
              <a:rPr lang="en-US" sz="6000" b="1" noProof="0" dirty="0" smtClean="0">
                <a:ln>
                  <a:noFill/>
                </a:ln>
                <a:solidFill>
                  <a:srgbClr val="0070C0"/>
                </a:solidFill>
                <a:effectLst/>
                <a:uLnTx/>
                <a:uFillTx/>
                <a:latin typeface="Times New Roman" panose="02020603050405020304" pitchFamily="18" charset="0"/>
                <a:cs typeface="Times New Roman" panose="02020603050405020304" pitchFamily="18" charset="0"/>
                <a:sym typeface="+mn-ea"/>
              </a:rPr>
              <a:t>COLLEGE OF SCIENCE AND TECHNOLOGY</a:t>
            </a:r>
            <a:endParaRPr lang="en-US" sz="6000" b="1" noProof="0" dirty="0" smtClean="0">
              <a:ln>
                <a:noFill/>
              </a:ln>
              <a:solidFill>
                <a:srgbClr val="92D050"/>
              </a:solidFill>
              <a:effectLst/>
              <a:uLnTx/>
              <a:uFillTx/>
              <a:latin typeface="Times New Roman" panose="02020603050405020304" pitchFamily="18" charset="0"/>
              <a:cs typeface="Times New Roman" panose="02020603050405020304" pitchFamily="18" charset="0"/>
              <a:sym typeface="+mn-ea"/>
            </a:endParaRPr>
          </a:p>
          <a:p>
            <a:pPr marL="274320" marR="0" lvl="0" indent="-274320" algn="ctr"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None/>
              <a:defRPr/>
            </a:pPr>
            <a:r>
              <a:rPr lang="en-US" sz="6000" b="1" noProof="0" dirty="0" smtClean="0">
                <a:ln>
                  <a:noFill/>
                </a:ln>
                <a:solidFill>
                  <a:srgbClr val="92D050"/>
                </a:solidFill>
                <a:effectLst/>
                <a:uLnTx/>
                <a:uFillTx/>
                <a:latin typeface="Times New Roman" panose="02020603050405020304" pitchFamily="18" charset="0"/>
                <a:cs typeface="Times New Roman" panose="02020603050405020304" pitchFamily="18" charset="0"/>
                <a:sym typeface="+mn-ea"/>
              </a:rPr>
              <a:t>NYARUGENGE CAMPUS</a:t>
            </a:r>
            <a:endParaRPr kumimoji="0" lang="en-US" sz="6000" b="0" i="0" u="none" strike="noStrike" kern="1200" cap="none" spc="0" normalizeH="0" baseline="0" noProof="0" dirty="0" smtClean="0">
              <a:ln>
                <a:noFill/>
              </a:ln>
              <a:solidFill>
                <a:srgbClr val="92D050"/>
              </a:solidFill>
              <a:effectLst/>
              <a:uLnTx/>
              <a:uFillTx/>
              <a:latin typeface="Times New Roman" panose="02020603050405020304" pitchFamily="18" charset="0"/>
              <a:cs typeface="Times New Roman" panose="02020603050405020304" pitchFamily="18" charset="0"/>
            </a:endParaRPr>
          </a:p>
          <a:p>
            <a:pPr marL="274320" marR="0" lvl="0" indent="-274320" algn="ctr" defTabSz="914400" rtl="0" eaLnBrk="1" fontAlgn="auto" latinLnBrk="0" hangingPunct="1">
              <a:lnSpc>
                <a:spcPct val="120000"/>
              </a:lnSpc>
              <a:spcBef>
                <a:spcPct val="20000"/>
              </a:spcBef>
              <a:spcAft>
                <a:spcPts val="0"/>
              </a:spcAft>
              <a:buClr>
                <a:schemeClr val="accent3"/>
              </a:buClr>
              <a:buSzPct val="95000"/>
              <a:buFont typeface="Wingdings 2" panose="05020102010507070707"/>
              <a:buNone/>
              <a:defRPr/>
            </a:pPr>
            <a:r>
              <a:rPr lang="en-US" sz="6000"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 </a:t>
            </a:r>
            <a:r>
              <a:rPr lang="en-US" sz="6000" b="1" noProof="0" dirty="0" smtClean="0">
                <a:ln>
                  <a:noFill/>
                </a:ln>
                <a:solidFill>
                  <a:srgbClr val="FF0000"/>
                </a:solidFill>
                <a:effectLst/>
                <a:uLnTx/>
                <a:uFillTx/>
                <a:latin typeface="Times New Roman" panose="02020603050405020304" pitchFamily="18" charset="0"/>
                <a:cs typeface="Times New Roman" panose="02020603050405020304" pitchFamily="18" charset="0"/>
                <a:sym typeface="+mn-ea"/>
              </a:rPr>
              <a:t>MODULE  TITLE : MARKETING OF IT</a:t>
            </a:r>
            <a:endParaRPr kumimoji="0" lang="en-US" sz="6000" b="1" i="0" u="none" strike="noStrike" kern="1200" cap="none" spc="0" normalizeH="0" baseline="0" noProof="0" dirty="0" smtClean="0">
              <a:ln>
                <a:noFill/>
              </a:ln>
              <a:solidFill>
                <a:srgbClr val="FF0000"/>
              </a:solidFill>
              <a:effectLst/>
              <a:uLnTx/>
              <a:uFillTx/>
              <a:latin typeface="Times New Roman" panose="02020603050405020304" pitchFamily="18" charset="0"/>
              <a:cs typeface="Times New Roman" panose="02020603050405020304" pitchFamily="18" charset="0"/>
            </a:endParaRPr>
          </a:p>
          <a:p>
            <a:pPr marL="274320" marR="0" lvl="0" indent="-274320" algn="ctr" defTabSz="914400" rtl="0" eaLnBrk="1" fontAlgn="auto" latinLnBrk="0" hangingPunct="1">
              <a:lnSpc>
                <a:spcPct val="120000"/>
              </a:lnSpc>
              <a:spcBef>
                <a:spcPct val="20000"/>
              </a:spcBef>
              <a:spcAft>
                <a:spcPts val="0"/>
              </a:spcAft>
              <a:buClr>
                <a:schemeClr val="accent3"/>
              </a:buClr>
              <a:buSzPct val="95000"/>
              <a:buFont typeface="Wingdings 2" panose="05020102010507070707"/>
              <a:buNone/>
              <a:defRPr/>
            </a:pPr>
            <a:r>
              <a:rPr lang="en-US" sz="6000" b="1" noProof="0" dirty="0" smtClean="0">
                <a:ln>
                  <a:noFill/>
                </a:ln>
                <a:solidFill>
                  <a:srgbClr val="00B0F0"/>
                </a:solidFill>
                <a:effectLst/>
                <a:uLnTx/>
                <a:uFillTx/>
                <a:latin typeface="Times New Roman" panose="02020603050405020304" pitchFamily="18" charset="0"/>
                <a:cs typeface="Times New Roman" panose="02020603050405020304" pitchFamily="18" charset="0"/>
                <a:sym typeface="+mn-ea"/>
              </a:rPr>
              <a:t>ACADEMIC YEAR 2025-2026 </a:t>
            </a:r>
            <a:endParaRPr kumimoji="0" lang="en-US" sz="6000" b="0" i="0" u="none"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endParaRPr>
          </a:p>
          <a:p>
            <a:pPr marL="274320" marR="0" lvl="0" indent="-274320" algn="ctr" defTabSz="914400" rtl="0" eaLnBrk="1" fontAlgn="auto" latinLnBrk="0" hangingPunct="1">
              <a:lnSpc>
                <a:spcPct val="120000"/>
              </a:lnSpc>
              <a:spcBef>
                <a:spcPct val="20000"/>
              </a:spcBef>
              <a:spcAft>
                <a:spcPts val="0"/>
              </a:spcAft>
              <a:buClr>
                <a:schemeClr val="accent3"/>
              </a:buClr>
              <a:buSzPct val="95000"/>
              <a:buFont typeface="Arial" panose="020B0604020202020204" pitchFamily="34" charset="0"/>
              <a:buNone/>
              <a:defRPr/>
            </a:pPr>
            <a:endParaRPr lang="en-US" b="1" u="sng" noProof="0" dirty="0" smtClean="0">
              <a:ln>
                <a:noFill/>
              </a:ln>
              <a:effectLst/>
              <a:uLnTx/>
              <a:uFillTx/>
              <a:latin typeface="Times New Roman" panose="02020603050405020304" pitchFamily="18" charset="0"/>
              <a:cs typeface="Times New Roman" panose="02020603050405020304" pitchFamily="18" charset="0"/>
              <a:sym typeface="+mn-ea"/>
            </a:endParaRPr>
          </a:p>
          <a:p>
            <a:pPr marL="274320" marR="0" lvl="0" indent="-274320" algn="l" defTabSz="914400" rtl="0" eaLnBrk="1" fontAlgn="auto" latinLnBrk="0" hangingPunct="1">
              <a:lnSpc>
                <a:spcPct val="120000"/>
              </a:lnSpc>
              <a:spcBef>
                <a:spcPct val="20000"/>
              </a:spcBef>
              <a:spcAft>
                <a:spcPts val="0"/>
              </a:spcAft>
              <a:buClr>
                <a:schemeClr val="accent3"/>
              </a:buClr>
              <a:buSzPct val="95000"/>
              <a:buFont typeface="Arial" panose="020B0604020202020204" pitchFamily="34" charset="0"/>
              <a:buNone/>
              <a:defRPr/>
            </a:pPr>
            <a:r>
              <a:rPr lang="en-US" b="1" u="sng" noProof="0" dirty="0" smtClean="0">
                <a:ln>
                  <a:noFill/>
                </a:ln>
                <a:effectLst/>
                <a:uLnTx/>
                <a:uFillTx/>
                <a:latin typeface="Times New Roman" panose="02020603050405020304" pitchFamily="18" charset="0"/>
                <a:cs typeface="Times New Roman" panose="02020603050405020304" pitchFamily="18" charset="0"/>
                <a:sym typeface="+mn-ea"/>
              </a:rPr>
              <a:t>By:</a:t>
            </a:r>
            <a:endParaRPr kumimoji="0" lang="en-US" b="1" i="0" u="sng"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None/>
              <a:defRPr/>
            </a:pPr>
            <a:r>
              <a:rPr lang="en-US" b="1" noProof="0" dirty="0" smtClean="0">
                <a:ln>
                  <a:noFill/>
                </a:ln>
                <a:solidFill>
                  <a:srgbClr val="00B050"/>
                </a:solidFill>
                <a:effectLst/>
                <a:uLnTx/>
                <a:uFillTx/>
                <a:latin typeface="Times New Roman" panose="02020603050405020304" pitchFamily="18" charset="0"/>
                <a:cs typeface="Times New Roman" panose="02020603050405020304" pitchFamily="18" charset="0"/>
                <a:sym typeface="+mn-ea"/>
              </a:rPr>
              <a:t>Mr. MUVARA GAHIMA Vincent </a:t>
            </a:r>
            <a:endParaRPr kumimoji="0" lang="en-US" b="1" i="0" u="none" strike="noStrike" kern="1200" cap="none" spc="0" normalizeH="0" baseline="0" noProof="0" dirty="0" smtClean="0">
              <a:ln>
                <a:noFill/>
              </a:ln>
              <a:solidFill>
                <a:srgbClr val="00B050"/>
              </a:solidFill>
              <a:effectLst/>
              <a:uLnTx/>
              <a:uFillTx/>
              <a:latin typeface="Times New Roman" panose="02020603050405020304" pitchFamily="18" charset="0"/>
              <a:cs typeface="Times New Roman" panose="02020603050405020304"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None/>
              <a:defRPr/>
            </a:pPr>
            <a:r>
              <a:rPr lang="en-US" b="1" noProof="0" dirty="0" smtClean="0">
                <a:ln>
                  <a:noFill/>
                </a:ln>
                <a:solidFill>
                  <a:srgbClr val="00B050"/>
                </a:solidFill>
                <a:effectLst/>
                <a:uLnTx/>
                <a:uFillTx/>
                <a:latin typeface="Times New Roman" panose="02020603050405020304" pitchFamily="18" charset="0"/>
                <a:cs typeface="Times New Roman" panose="02020603050405020304" pitchFamily="18" charset="0"/>
                <a:sym typeface="+mn-ea"/>
              </a:rPr>
              <a:t>Mobile: 0788673963</a:t>
            </a:r>
            <a:endParaRPr kumimoji="0" lang="en-US" b="1" i="0" u="none" strike="noStrike" kern="1200" cap="none" spc="0" normalizeH="0" baseline="0" noProof="0" dirty="0" smtClean="0">
              <a:ln>
                <a:noFill/>
              </a:ln>
              <a:solidFill>
                <a:srgbClr val="00B050"/>
              </a:solidFill>
              <a:effectLst/>
              <a:uLnTx/>
              <a:uFillTx/>
              <a:latin typeface="Times New Roman" panose="02020603050405020304" pitchFamily="18" charset="0"/>
              <a:cs typeface="Times New Roman" panose="02020603050405020304" pitchFamily="18" charset="0"/>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anose="020B0604020202020204" pitchFamily="34" charset="0"/>
              <a:buNone/>
              <a:defRPr/>
            </a:pPr>
            <a:r>
              <a:rPr lang="en-US" b="1" noProof="0" dirty="0" smtClean="0">
                <a:ln>
                  <a:noFill/>
                </a:ln>
                <a:solidFill>
                  <a:srgbClr val="00B050"/>
                </a:solidFill>
                <a:effectLst/>
                <a:uLnTx/>
                <a:uFillTx/>
                <a:latin typeface="Times New Roman" panose="02020603050405020304" pitchFamily="18" charset="0"/>
                <a:cs typeface="Times New Roman" panose="02020603050405020304" pitchFamily="18" charset="0"/>
                <a:sym typeface="+mn-ea"/>
              </a:rPr>
              <a:t>E-mail: vinxmuvara@gmail.com</a:t>
            </a:r>
            <a:endParaRPr kumimoji="0" lang="en-US" b="0" i="0" u="none"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29540"/>
            <a:ext cx="10515600" cy="701040"/>
          </a:xfrm>
        </p:spPr>
        <p:txBody>
          <a:bodyPr>
            <a:normAutofit fontScale="90000"/>
          </a:bodyPr>
          <a:p>
            <a:r>
              <a:rPr lang="en-US" b="1">
                <a:latin typeface="Times New Roman" panose="02020603050405020304" pitchFamily="18" charset="0"/>
                <a:cs typeface="Times New Roman" panose="02020603050405020304" pitchFamily="18" charset="0"/>
              </a:rPr>
              <a:t>Module Outline</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43560" y="672465"/>
            <a:ext cx="11175365" cy="5951855"/>
          </a:xfrm>
        </p:spPr>
        <p:txBody>
          <a:bodyPr>
            <a:noAutofit/>
          </a:bodyPr>
          <a:p>
            <a:pPr marL="0" indent="0" algn="just">
              <a:buNone/>
            </a:pPr>
            <a:r>
              <a:rPr lang="en-US" dirty="0" smtClean="0">
                <a:latin typeface="Times New Roman" panose="02020603050405020304" pitchFamily="18" charset="0"/>
                <a:cs typeface="Times New Roman" panose="02020603050405020304" pitchFamily="18" charset="0"/>
                <a:sym typeface="+mn-ea"/>
              </a:rPr>
              <a:t>The course outline provides a comprehensive framework for understanding how marketing can be applied specifically within the information technology landscape, preparing students to navigate this dynamic field effectively.</a:t>
            </a:r>
            <a:endParaRPr lang="en-US" dirty="0" smtClean="0">
              <a:latin typeface="Times New Roman" panose="02020603050405020304" pitchFamily="18" charset="0"/>
              <a:cs typeface="Times New Roman" panose="02020603050405020304" pitchFamily="18" charset="0"/>
            </a:endParaRPr>
          </a:p>
          <a:p>
            <a:pPr marL="0" indent="0" algn="just">
              <a:buNone/>
            </a:pPr>
            <a:r>
              <a:rPr lang="en-US" sz="2400" b="1">
                <a:latin typeface="Times New Roman" panose="02020603050405020304" pitchFamily="18" charset="0"/>
                <a:cs typeface="Times New Roman" panose="02020603050405020304" pitchFamily="18" charset="0"/>
              </a:rPr>
              <a:t>Chapter one: </a:t>
            </a:r>
            <a:r>
              <a:rPr lang="en-US" altLang="en-US" sz="2400" i="1">
                <a:latin typeface="Times New Roman" panose="02020603050405020304" pitchFamily="18" charset="0"/>
                <a:cs typeface="Times New Roman" panose="02020603050405020304" pitchFamily="18" charset="0"/>
              </a:rPr>
              <a:t>Introduction to Marketing of IT</a:t>
            </a:r>
            <a:endParaRPr lang="en-US" altLang="en-US" sz="2400" i="1">
              <a:latin typeface="Times New Roman" panose="02020603050405020304" pitchFamily="18" charset="0"/>
              <a:cs typeface="Times New Roman" panose="02020603050405020304" pitchFamily="18" charset="0"/>
            </a:endParaRPr>
          </a:p>
          <a:p>
            <a:pPr marL="0" indent="0" algn="just">
              <a:buNone/>
            </a:pPr>
            <a:r>
              <a:rPr lang="en-US" sz="2400" b="1">
                <a:latin typeface="Times New Roman" panose="02020603050405020304" pitchFamily="18" charset="0"/>
                <a:cs typeface="Times New Roman" panose="02020603050405020304" pitchFamily="18" charset="0"/>
                <a:sym typeface="+mn-ea"/>
              </a:rPr>
              <a:t>Chapter two:</a:t>
            </a:r>
            <a:r>
              <a:rPr lang="en-US" sz="2400" i="1">
                <a:latin typeface="Times New Roman" panose="02020603050405020304" pitchFamily="18" charset="0"/>
                <a:cs typeface="Times New Roman" panose="02020603050405020304" pitchFamily="18" charset="0"/>
                <a:sym typeface="+mn-ea"/>
              </a:rPr>
              <a:t> </a:t>
            </a:r>
            <a:r>
              <a:rPr lang="en-US" altLang="en-US" sz="2400" i="1">
                <a:latin typeface="Times New Roman" panose="02020603050405020304" pitchFamily="18" charset="0"/>
                <a:cs typeface="Times New Roman" panose="02020603050405020304" pitchFamily="18" charset="0"/>
              </a:rPr>
              <a:t>Market Analysis and environmental scanning</a:t>
            </a:r>
            <a:endParaRPr lang="en-US" altLang="en-US" sz="2400" i="1">
              <a:latin typeface="Times New Roman" panose="02020603050405020304" pitchFamily="18" charset="0"/>
              <a:cs typeface="Times New Roman" panose="02020603050405020304" pitchFamily="18" charset="0"/>
            </a:endParaRPr>
          </a:p>
          <a:p>
            <a:pPr marL="0" indent="0" algn="just">
              <a:buNone/>
            </a:pPr>
            <a:r>
              <a:rPr lang="en-US" altLang="en-US" sz="2400" b="1">
                <a:latin typeface="Times New Roman" panose="02020603050405020304" pitchFamily="18" charset="0"/>
                <a:cs typeface="Times New Roman" panose="02020603050405020304" pitchFamily="18" charset="0"/>
              </a:rPr>
              <a:t>Chapter three:</a:t>
            </a:r>
            <a:r>
              <a:rPr lang="en-US" altLang="en-US" sz="2400" i="1">
                <a:latin typeface="Times New Roman" panose="02020603050405020304" pitchFamily="18" charset="0"/>
                <a:cs typeface="Times New Roman" panose="02020603050405020304" pitchFamily="18" charset="0"/>
              </a:rPr>
              <a:t> Consumer Behavior in IT</a:t>
            </a:r>
            <a:endParaRPr lang="en-US" altLang="en-US" sz="2400" i="1">
              <a:latin typeface="Times New Roman" panose="02020603050405020304" pitchFamily="18" charset="0"/>
              <a:cs typeface="Times New Roman" panose="02020603050405020304" pitchFamily="18" charset="0"/>
            </a:endParaRPr>
          </a:p>
          <a:p>
            <a:pPr marL="0" indent="0" algn="just">
              <a:buNone/>
            </a:pPr>
            <a:r>
              <a:rPr lang="en-US" sz="2400" b="1">
                <a:latin typeface="Times New Roman" panose="02020603050405020304" pitchFamily="18" charset="0"/>
                <a:cs typeface="Times New Roman" panose="02020603050405020304" pitchFamily="18" charset="0"/>
                <a:sym typeface="+mn-ea"/>
              </a:rPr>
              <a:t>Chapter four:</a:t>
            </a:r>
            <a:r>
              <a:rPr lang="en-US" sz="2400" i="1">
                <a:latin typeface="Times New Roman" panose="02020603050405020304" pitchFamily="18" charset="0"/>
                <a:cs typeface="Times New Roman" panose="02020603050405020304" pitchFamily="18" charset="0"/>
                <a:sym typeface="+mn-ea"/>
              </a:rPr>
              <a:t> </a:t>
            </a:r>
            <a:r>
              <a:rPr lang="en-US" altLang="en-US" sz="2400" i="1">
                <a:latin typeface="Times New Roman" panose="02020603050405020304" pitchFamily="18" charset="0"/>
                <a:cs typeface="Times New Roman" panose="02020603050405020304" pitchFamily="18" charset="0"/>
              </a:rPr>
              <a:t>Segmentation, Targeting, and Positioning (STP)</a:t>
            </a:r>
            <a:endParaRPr lang="en-US" altLang="en-US" sz="2400" i="1">
              <a:latin typeface="Times New Roman" panose="02020603050405020304" pitchFamily="18" charset="0"/>
              <a:cs typeface="Times New Roman" panose="02020603050405020304" pitchFamily="18" charset="0"/>
            </a:endParaRPr>
          </a:p>
          <a:p>
            <a:pPr marL="0" indent="0" algn="just">
              <a:buNone/>
            </a:pPr>
            <a:r>
              <a:rPr lang="en-US" altLang="en-US" sz="2400" b="1">
                <a:latin typeface="Times New Roman" panose="02020603050405020304" pitchFamily="18" charset="0"/>
                <a:cs typeface="Times New Roman" panose="02020603050405020304" pitchFamily="18" charset="0"/>
                <a:sym typeface="+mn-ea"/>
              </a:rPr>
              <a:t>Chapter five:</a:t>
            </a:r>
            <a:r>
              <a:rPr lang="en-US" altLang="en-US" sz="2400" b="1" i="1">
                <a:latin typeface="Times New Roman" panose="02020603050405020304" pitchFamily="18" charset="0"/>
                <a:cs typeface="Times New Roman" panose="02020603050405020304" pitchFamily="18" charset="0"/>
                <a:sym typeface="+mn-ea"/>
              </a:rPr>
              <a:t> </a:t>
            </a:r>
            <a:r>
              <a:rPr lang="en-US" altLang="en-US" sz="2400" i="1">
                <a:latin typeface="Times New Roman" panose="02020603050405020304" pitchFamily="18" charset="0"/>
                <a:cs typeface="Times New Roman" panose="02020603050405020304" pitchFamily="18" charset="0"/>
                <a:sym typeface="+mn-ea"/>
              </a:rPr>
              <a:t>IT Products and Services </a:t>
            </a:r>
            <a:endParaRPr lang="en-US" altLang="en-US" sz="2400" i="1">
              <a:latin typeface="Times New Roman" panose="02020603050405020304" pitchFamily="18" charset="0"/>
              <a:cs typeface="Times New Roman" panose="02020603050405020304" pitchFamily="18" charset="0"/>
            </a:endParaRPr>
          </a:p>
          <a:p>
            <a:pPr marL="0" indent="0" algn="just">
              <a:buNone/>
            </a:pPr>
            <a:r>
              <a:rPr lang="en-US" sz="2400" b="1">
                <a:latin typeface="Times New Roman" panose="02020603050405020304" pitchFamily="18" charset="0"/>
                <a:cs typeface="Times New Roman" panose="02020603050405020304" pitchFamily="18" charset="0"/>
                <a:sym typeface="+mn-ea"/>
              </a:rPr>
              <a:t>Chapter six:</a:t>
            </a:r>
            <a:r>
              <a:rPr lang="en-US" sz="2400" i="1">
                <a:latin typeface="Times New Roman" panose="02020603050405020304" pitchFamily="18" charset="0"/>
                <a:cs typeface="Times New Roman" panose="02020603050405020304" pitchFamily="18" charset="0"/>
                <a:sym typeface="+mn-ea"/>
              </a:rPr>
              <a:t> </a:t>
            </a:r>
            <a:r>
              <a:rPr lang="en-US" altLang="en-US" sz="2400" i="1">
                <a:latin typeface="Times New Roman" panose="02020603050405020304" pitchFamily="18" charset="0"/>
                <a:cs typeface="Times New Roman" panose="02020603050405020304" pitchFamily="18" charset="0"/>
              </a:rPr>
              <a:t>Pricing Strategies for IT Products</a:t>
            </a:r>
            <a:endParaRPr lang="en-US" altLang="en-US" sz="2400" i="1">
              <a:latin typeface="Times New Roman" panose="02020603050405020304" pitchFamily="18" charset="0"/>
              <a:cs typeface="Times New Roman" panose="02020603050405020304" pitchFamily="18" charset="0"/>
            </a:endParaRPr>
          </a:p>
          <a:p>
            <a:pPr marL="0" indent="0" algn="just">
              <a:buNone/>
            </a:pPr>
            <a:r>
              <a:rPr lang="en-US" sz="2400" b="1">
                <a:latin typeface="Times New Roman" panose="02020603050405020304" pitchFamily="18" charset="0"/>
                <a:cs typeface="Times New Roman" panose="02020603050405020304" pitchFamily="18" charset="0"/>
                <a:sym typeface="+mn-ea"/>
              </a:rPr>
              <a:t>Chapter seven:</a:t>
            </a:r>
            <a:r>
              <a:rPr lang="en-US" sz="2400" i="1">
                <a:latin typeface="Times New Roman" panose="02020603050405020304" pitchFamily="18" charset="0"/>
                <a:cs typeface="Times New Roman" panose="02020603050405020304" pitchFamily="18" charset="0"/>
                <a:sym typeface="+mn-ea"/>
              </a:rPr>
              <a:t> </a:t>
            </a:r>
            <a:r>
              <a:rPr lang="en-US" altLang="en-US" sz="2400" i="1">
                <a:latin typeface="Times New Roman" panose="02020603050405020304" pitchFamily="18" charset="0"/>
                <a:cs typeface="Times New Roman" panose="02020603050405020304" pitchFamily="18" charset="0"/>
                <a:sym typeface="+mn-ea"/>
              </a:rPr>
              <a:t>Distribution and Channel Strategies</a:t>
            </a:r>
            <a:endParaRPr lang="en-US" sz="2400" i="1">
              <a:latin typeface="Times New Roman" panose="02020603050405020304" pitchFamily="18" charset="0"/>
              <a:cs typeface="Times New Roman" panose="02020603050405020304" pitchFamily="18" charset="0"/>
              <a:sym typeface="+mn-ea"/>
            </a:endParaRPr>
          </a:p>
          <a:p>
            <a:pPr marL="0" indent="0" algn="just">
              <a:buNone/>
            </a:pPr>
            <a:r>
              <a:rPr lang="en-US" sz="2400" b="1">
                <a:latin typeface="Times New Roman" panose="02020603050405020304" pitchFamily="18" charset="0"/>
                <a:cs typeface="Times New Roman" panose="02020603050405020304" pitchFamily="18" charset="0"/>
                <a:sym typeface="+mn-ea"/>
              </a:rPr>
              <a:t>Chapter eight:</a:t>
            </a:r>
            <a:r>
              <a:rPr lang="en-US" sz="2400" i="1">
                <a:latin typeface="Times New Roman" panose="02020603050405020304" pitchFamily="18" charset="0"/>
                <a:cs typeface="Times New Roman" panose="02020603050405020304" pitchFamily="18" charset="0"/>
                <a:sym typeface="+mn-ea"/>
              </a:rPr>
              <a:t> </a:t>
            </a:r>
            <a:r>
              <a:rPr lang="en-US" altLang="en-US" sz="2400" i="1">
                <a:latin typeface="Times New Roman" panose="02020603050405020304" pitchFamily="18" charset="0"/>
                <a:cs typeface="Times New Roman" panose="02020603050405020304" pitchFamily="18" charset="0"/>
                <a:sym typeface="+mn-ea"/>
              </a:rPr>
              <a:t>Promotion and Digital Marketing of IT</a:t>
            </a:r>
            <a:endParaRPr lang="en-US" altLang="en-US" sz="2400" i="1">
              <a:latin typeface="Times New Roman" panose="02020603050405020304" pitchFamily="18" charset="0"/>
              <a:cs typeface="Times New Roman" panose="02020603050405020304" pitchFamily="18" charset="0"/>
            </a:endParaRPr>
          </a:p>
          <a:p>
            <a:pPr marL="0" indent="0" algn="just">
              <a:buNone/>
            </a:pPr>
            <a:r>
              <a:rPr lang="en-US" sz="2400" b="1">
                <a:latin typeface="Times New Roman" panose="02020603050405020304" pitchFamily="18" charset="0"/>
                <a:cs typeface="Times New Roman" panose="02020603050405020304" pitchFamily="18" charset="0"/>
                <a:sym typeface="+mn-ea"/>
              </a:rPr>
              <a:t>Chapter nine:</a:t>
            </a:r>
            <a:r>
              <a:rPr lang="en-US" sz="2400" i="1">
                <a:latin typeface="Times New Roman" panose="02020603050405020304" pitchFamily="18" charset="0"/>
                <a:cs typeface="Times New Roman" panose="02020603050405020304" pitchFamily="18" charset="0"/>
                <a:sym typeface="+mn-ea"/>
              </a:rPr>
              <a:t> </a:t>
            </a:r>
            <a:r>
              <a:rPr lang="en-US" altLang="en-US" sz="2400" i="1">
                <a:latin typeface="Times New Roman" panose="02020603050405020304" pitchFamily="18" charset="0"/>
                <a:cs typeface="Times New Roman" panose="02020603050405020304" pitchFamily="18" charset="0"/>
              </a:rPr>
              <a:t>Relationship Marketing and CRM in IT</a:t>
            </a:r>
            <a:endParaRPr lang="en-US" altLang="en-US" sz="2400" i="1">
              <a:latin typeface="Times New Roman" panose="02020603050405020304" pitchFamily="18" charset="0"/>
              <a:cs typeface="Times New Roman" panose="02020603050405020304" pitchFamily="18" charset="0"/>
            </a:endParaRPr>
          </a:p>
          <a:p>
            <a:pPr marL="0" indent="0" algn="just">
              <a:buNone/>
            </a:pPr>
            <a:r>
              <a:rPr lang="en-US" sz="2400" b="1">
                <a:latin typeface="Times New Roman" panose="02020603050405020304" pitchFamily="18" charset="0"/>
                <a:cs typeface="Times New Roman" panose="02020603050405020304" pitchFamily="18" charset="0"/>
                <a:sym typeface="+mn-ea"/>
              </a:rPr>
              <a:t>Chapter ten:</a:t>
            </a:r>
            <a:r>
              <a:rPr lang="en-US" sz="2400" i="1">
                <a:latin typeface="Times New Roman" panose="02020603050405020304" pitchFamily="18" charset="0"/>
                <a:cs typeface="Times New Roman" panose="02020603050405020304" pitchFamily="18" charset="0"/>
                <a:sym typeface="+mn-ea"/>
              </a:rPr>
              <a:t> </a:t>
            </a:r>
            <a:r>
              <a:rPr lang="en-US" altLang="en-US" sz="2400" i="1">
                <a:latin typeface="Times New Roman" panose="02020603050405020304" pitchFamily="18" charset="0"/>
                <a:cs typeface="Times New Roman" panose="02020603050405020304" pitchFamily="18" charset="0"/>
              </a:rPr>
              <a:t>Emerging Trends in IT Marketing</a:t>
            </a:r>
            <a:endParaRPr lang="en-US" altLang="en-US" sz="2400" i="1">
              <a:latin typeface="Times New Roman" panose="02020603050405020304" pitchFamily="18" charset="0"/>
              <a:cs typeface="Times New Roman" panose="02020603050405020304" pitchFamily="18" charset="0"/>
            </a:endParaRPr>
          </a:p>
          <a:p>
            <a:pPr marL="0" indent="0" algn="just">
              <a:buNone/>
            </a:pPr>
            <a:endParaRPr lang="en-US" altLang="en-US" sz="2400" i="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535" y="365125"/>
            <a:ext cx="11082655" cy="1545590"/>
          </a:xfrm>
        </p:spPr>
        <p:txBody>
          <a:bodyPr>
            <a:noAutofit/>
          </a:bodyPr>
          <a:lstStyle/>
          <a:p>
            <a:r>
              <a:rPr lang="en-US" sz="4800" b="1" dirty="0">
                <a:solidFill>
                  <a:srgbClr val="FF0000"/>
                </a:solidFill>
                <a:latin typeface="Times New Roman" panose="02020603050405020304" pitchFamily="18" charset="0"/>
                <a:cs typeface="Times New Roman" panose="02020603050405020304" pitchFamily="18" charset="0"/>
              </a:rPr>
              <a:t>1.0 The origin of Marketing of IT </a:t>
            </a:r>
            <a:br>
              <a:rPr lang="en-US" sz="4800" b="1" dirty="0">
                <a:solidFill>
                  <a:schemeClr val="accent1"/>
                </a:solidFill>
                <a:effectLst/>
                <a:latin typeface="Times New Roman" panose="02020603050405020304" pitchFamily="18" charset="0"/>
                <a:cs typeface="Times New Roman" panose="02020603050405020304" pitchFamily="18" charset="0"/>
              </a:rPr>
            </a:br>
            <a:endParaRPr lang="en-US" sz="4800" b="1" dirty="0">
              <a:solidFill>
                <a:schemeClr val="accent1"/>
              </a:solidFill>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94995" y="1910715"/>
            <a:ext cx="11254105" cy="4496435"/>
          </a:xfrm>
        </p:spPr>
        <p:txBody>
          <a:bodyPr>
            <a:normAutofit lnSpcReduction="10000"/>
          </a:bodyPr>
          <a:lstStyle/>
          <a:p>
            <a:pPr algn="just">
              <a:lnSpc>
                <a:spcPct val="100000"/>
              </a:lnSpc>
            </a:pPr>
            <a:r>
              <a:rPr lang="en-US" sz="3200" dirty="0">
                <a:latin typeface="Times New Roman" panose="02020603050405020304" pitchFamily="18" charset="0"/>
                <a:cs typeface="Times New Roman" panose="02020603050405020304" pitchFamily="18" charset="0"/>
              </a:rPr>
              <a:t>In October 1969, computer scientist </a:t>
            </a:r>
            <a:r>
              <a:rPr lang="en-US" sz="3200" b="1" i="1" dirty="0">
                <a:latin typeface="Times New Roman" panose="02020603050405020304" pitchFamily="18" charset="0"/>
                <a:cs typeface="Times New Roman" panose="02020603050405020304" pitchFamily="18" charset="0"/>
              </a:rPr>
              <a:t>Professor Leonard K. </a:t>
            </a:r>
            <a:r>
              <a:rPr lang="en-US" sz="3200" dirty="0">
                <a:latin typeface="Times New Roman" panose="02020603050405020304" pitchFamily="18" charset="0"/>
                <a:cs typeface="Times New Roman" panose="02020603050405020304" pitchFamily="18" charset="0"/>
              </a:rPr>
              <a:t>sent a short message to his colleagues, marking the birth of the world's first e-mail. </a:t>
            </a:r>
            <a:endParaRPr lang="en-US" sz="3200" dirty="0">
              <a:effectLst/>
              <a:latin typeface="Times New Roman" panose="02020603050405020304" pitchFamily="18" charset="0"/>
              <a:cs typeface="Times New Roman" panose="02020603050405020304" pitchFamily="18" charset="0"/>
            </a:endParaRPr>
          </a:p>
          <a:p>
            <a:pPr algn="just">
              <a:lnSpc>
                <a:spcPct val="100000"/>
              </a:lnSpc>
            </a:pPr>
            <a:r>
              <a:rPr lang="en-US" sz="3200" dirty="0">
                <a:latin typeface="Times New Roman" panose="02020603050405020304" pitchFamily="18" charset="0"/>
                <a:cs typeface="Times New Roman" panose="02020603050405020304" pitchFamily="18" charset="0"/>
              </a:rPr>
              <a:t>◼  1994 is considered to be an important year for the development of internet marketing. </a:t>
            </a:r>
            <a:endParaRPr lang="en-US" sz="3200" dirty="0">
              <a:effectLst/>
              <a:latin typeface="Times New Roman" panose="02020603050405020304" pitchFamily="18" charset="0"/>
              <a:cs typeface="Times New Roman" panose="02020603050405020304" pitchFamily="18" charset="0"/>
            </a:endParaRPr>
          </a:p>
          <a:p>
            <a:pPr algn="just">
              <a:lnSpc>
                <a:spcPct val="100000"/>
              </a:lnSpc>
            </a:pPr>
            <a:r>
              <a:rPr lang="en-US" sz="3200" dirty="0">
                <a:latin typeface="Times New Roman" panose="02020603050405020304" pitchFamily="18" charset="0"/>
                <a:cs typeface="Times New Roman" panose="02020603050405020304" pitchFamily="18" charset="0"/>
              </a:rPr>
              <a:t>◼  On October 27, 1994, the first online advertisement on the Internet was launched by the website </a:t>
            </a:r>
            <a:r>
              <a:rPr lang="en-US" sz="3200" dirty="0" err="1">
                <a:latin typeface="Times New Roman" panose="02020603050405020304" pitchFamily="18" charset="0"/>
                <a:cs typeface="Times New Roman" panose="02020603050405020304" pitchFamily="18" charset="0"/>
              </a:rPr>
              <a:t>hotwired.com</a:t>
            </a:r>
            <a:r>
              <a:rPr lang="en-US" sz="3200" dirty="0">
                <a:latin typeface="Times New Roman" panose="02020603050405020304" pitchFamily="18" charset="0"/>
                <a:cs typeface="Times New Roman" panose="02020603050405020304" pitchFamily="18" charset="0"/>
              </a:rPr>
              <a:t> of Wired magazine, its home page began to publish 14 customers (including AT&amp;T, IBM, Volvo, etc.) banner ads. </a:t>
            </a:r>
            <a:endParaRPr lang="en-US" sz="3200" dirty="0">
              <a:effectLst/>
              <a:latin typeface="Times New Roman" panose="02020603050405020304" pitchFamily="18" charset="0"/>
              <a:cs typeface="Times New Roman" panose="02020603050405020304" pitchFamily="18" charset="0"/>
            </a:endParaRPr>
          </a:p>
          <a:p>
            <a:pPr algn="just"/>
            <a:endParaRPr lang="en-US" sz="32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Cont’d....</a:t>
            </a:r>
            <a:endParaRPr lang="en-US"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4568825"/>
          </a:xfrm>
        </p:spPr>
        <p:txBody>
          <a:bodyPr/>
          <a:lstStyle/>
          <a:p>
            <a:pPr algn="just">
              <a:lnSpc>
                <a:spcPct val="100000"/>
              </a:lnSpc>
            </a:pPr>
            <a:r>
              <a:rPr lang="en-US" sz="3600" dirty="0">
                <a:latin typeface="Times New Roman" panose="02020603050405020304" pitchFamily="18" charset="0"/>
                <a:cs typeface="Times New Roman" panose="02020603050405020304" pitchFamily="18" charset="0"/>
                <a:sym typeface="+mn-ea"/>
              </a:rPr>
              <a:t>◼  On April 12, 1994, American lawyers Laurence Canter and Martha Siegel launched the "green card lottery" advertisement through the e-mail news group, attracting 25000 customers and making $100000 for only $20 of online communication expenses. </a:t>
            </a:r>
            <a:endParaRPr lang="en-US" sz="3600" dirty="0">
              <a:effectLst/>
              <a:latin typeface="Times New Roman" panose="02020603050405020304" pitchFamily="18" charset="0"/>
              <a:cs typeface="Times New Roman" panose="02020603050405020304" pitchFamily="18" charset="0"/>
            </a:endParaRPr>
          </a:p>
          <a:p>
            <a:pPr algn="just">
              <a:lnSpc>
                <a:spcPct val="100000"/>
              </a:lnSpc>
            </a:pPr>
            <a:r>
              <a:rPr lang="en-US" sz="3600" dirty="0">
                <a:latin typeface="Times New Roman" panose="02020603050405020304" pitchFamily="18" charset="0"/>
                <a:cs typeface="Times New Roman" panose="02020603050405020304" pitchFamily="18" charset="0"/>
                <a:sym typeface="+mn-ea"/>
              </a:rPr>
              <a:t>◼  The launch of search engine: Wanderer (1993.6), Yahoo (1994.2), Lycos (1994.7), Google (1998.9). </a:t>
            </a:r>
            <a:endParaRPr lang="en-US" sz="3600" dirty="0">
              <a:effectLst/>
              <a:latin typeface="Times New Roman" panose="02020603050405020304" pitchFamily="18" charset="0"/>
              <a:cs typeface="Times New Roman" panose="02020603050405020304" pitchFamily="18" charset="0"/>
            </a:endParaRPr>
          </a:p>
          <a:p>
            <a:endParaRPr lang="en-US" sz="36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0421"/>
          </a:xfrm>
        </p:spPr>
        <p:txBody>
          <a:bodyPr>
            <a:normAutofit fontScale="90000"/>
          </a:bodyPr>
          <a:lstStyle/>
          <a:p>
            <a:r>
              <a:rPr lang="en-US" b="1" i="1" dirty="0" smtClean="0">
                <a:latin typeface="Times New Roman" panose="02020603050405020304" pitchFamily="18" charset="0"/>
                <a:cs typeface="Times New Roman" panose="02020603050405020304" pitchFamily="18" charset="0"/>
              </a:rPr>
              <a:t>Cont’d....</a:t>
            </a:r>
            <a:endParaRPr lang="en-US" dirty="0"/>
          </a:p>
        </p:txBody>
      </p:sp>
      <p:sp>
        <p:nvSpPr>
          <p:cNvPr id="3" name="Content Placeholder 2"/>
          <p:cNvSpPr>
            <a:spLocks noGrp="1"/>
          </p:cNvSpPr>
          <p:nvPr>
            <p:ph idx="1"/>
          </p:nvPr>
        </p:nvSpPr>
        <p:spPr>
          <a:xfrm>
            <a:off x="708025" y="1437640"/>
            <a:ext cx="10646410" cy="4920615"/>
          </a:xfrm>
        </p:spPr>
        <p:txBody>
          <a:bodyPr>
            <a:noAutofit/>
          </a:bodyPr>
          <a:lstStyle/>
          <a:p>
            <a:pPr algn="just">
              <a:lnSpc>
                <a:spcPct val="100000"/>
              </a:lnSpc>
            </a:pPr>
            <a:r>
              <a:rPr lang="en-US" sz="3600" dirty="0" smtClean="0">
                <a:latin typeface="Times New Roman" panose="02020603050405020304" pitchFamily="18" charset="0"/>
                <a:cs typeface="Times New Roman" panose="02020603050405020304" pitchFamily="18" charset="0"/>
              </a:rPr>
              <a:t>Marketing in the information technology (IT) sector is a specialized field that focuses on promoting and selling technology-related products and services. </a:t>
            </a:r>
            <a:endParaRPr lang="en-US" sz="3600" dirty="0" smtClean="0">
              <a:latin typeface="Times New Roman" panose="02020603050405020304" pitchFamily="18" charset="0"/>
              <a:cs typeface="Times New Roman" panose="02020603050405020304" pitchFamily="18" charset="0"/>
            </a:endParaRPr>
          </a:p>
          <a:p>
            <a:pPr algn="just">
              <a:lnSpc>
                <a:spcPct val="100000"/>
              </a:lnSpc>
            </a:pPr>
            <a:endParaRPr lang="en-US" sz="3600" dirty="0" smtClean="0">
              <a:latin typeface="Times New Roman" panose="02020603050405020304" pitchFamily="18" charset="0"/>
              <a:cs typeface="Times New Roman" panose="02020603050405020304" pitchFamily="18" charset="0"/>
            </a:endParaRPr>
          </a:p>
          <a:p>
            <a:pPr algn="just">
              <a:lnSpc>
                <a:spcPct val="100000"/>
              </a:lnSpc>
            </a:pPr>
            <a:r>
              <a:rPr lang="en-US" sz="3600" dirty="0" smtClean="0">
                <a:latin typeface="Times New Roman" panose="02020603050405020304" pitchFamily="18" charset="0"/>
                <a:cs typeface="Times New Roman" panose="02020603050405020304" pitchFamily="18" charset="0"/>
              </a:rPr>
              <a:t>It encompasses various strategies and practices tailored to meet the unique needs of IT companies, which often deal with complex products that require clear communication of their benefits and functionalities. </a:t>
            </a:r>
            <a:endParaRPr lang="en-US" sz="3600"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69240"/>
          </a:xfrm>
        </p:spPr>
        <p:txBody>
          <a:bodyPr>
            <a:normAutofit fontScale="90000"/>
          </a:bodyPr>
          <a:lstStyle/>
          <a:p>
            <a:r>
              <a:rPr lang="en-US" b="1" i="1" dirty="0" smtClean="0">
                <a:latin typeface="Times New Roman" panose="02020603050405020304" pitchFamily="18" charset="0"/>
                <a:cs typeface="Times New Roman" panose="02020603050405020304" pitchFamily="18" charset="0"/>
              </a:rPr>
              <a:t>Cont’d....</a:t>
            </a:r>
            <a:endParaRPr lang="en-US" dirty="0"/>
          </a:p>
        </p:txBody>
      </p:sp>
      <p:sp>
        <p:nvSpPr>
          <p:cNvPr id="3" name="Content Placeholder 2"/>
          <p:cNvSpPr>
            <a:spLocks noGrp="1"/>
          </p:cNvSpPr>
          <p:nvPr>
            <p:ph idx="1"/>
          </p:nvPr>
        </p:nvSpPr>
        <p:spPr>
          <a:xfrm>
            <a:off x="689610" y="876300"/>
            <a:ext cx="10664190" cy="5666740"/>
          </a:xfrm>
        </p:spPr>
        <p:txBody>
          <a:bodyPr>
            <a:noAutofit/>
          </a:bodyPr>
          <a:lstStyle/>
          <a:p>
            <a:pPr marL="0" indent="0" algn="just">
              <a:lnSpc>
                <a:spcPct val="150000"/>
              </a:lnSpc>
              <a:buNone/>
            </a:pPr>
            <a:r>
              <a:rPr lang="en-US" dirty="0" smtClean="0">
                <a:latin typeface="Times New Roman" panose="02020603050405020304" pitchFamily="18" charset="0"/>
                <a:cs typeface="Times New Roman" panose="02020603050405020304" pitchFamily="18" charset="0"/>
              </a:rPr>
              <a:t>◼  Marketing of IT</a:t>
            </a:r>
            <a:r>
              <a:rPr lang="en-US" b="1" dirty="0" smtClean="0">
                <a:solidFill>
                  <a:srgbClr val="0070C0"/>
                </a:solidFill>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is a kind of marketing activities implemented in a totally new way, method and concept with the </a:t>
            </a:r>
            <a:r>
              <a:rPr lang="en-US" b="1" dirty="0" smtClean="0">
                <a:latin typeface="Times New Roman" panose="02020603050405020304" pitchFamily="18" charset="0"/>
                <a:cs typeface="Times New Roman" panose="02020603050405020304" pitchFamily="18" charset="0"/>
              </a:rPr>
              <a:t>Internet as the media and platform</a:t>
            </a:r>
            <a:r>
              <a:rPr lang="en-US" dirty="0" smtClean="0">
                <a:latin typeface="Times New Roman" panose="02020603050405020304" pitchFamily="18" charset="0"/>
                <a:cs typeface="Times New Roman" panose="02020603050405020304" pitchFamily="18" charset="0"/>
              </a:rPr>
              <a:t>, so as to realize the </a:t>
            </a:r>
            <a:r>
              <a:rPr lang="en-US" b="1" dirty="0" smtClean="0">
                <a:latin typeface="Times New Roman" panose="02020603050405020304" pitchFamily="18" charset="0"/>
                <a:cs typeface="Times New Roman" panose="02020603050405020304" pitchFamily="18" charset="0"/>
              </a:rPr>
              <a:t>new marketing mode </a:t>
            </a:r>
            <a:r>
              <a:rPr lang="en-US" dirty="0" smtClean="0">
                <a:latin typeface="Times New Roman" panose="02020603050405020304" pitchFamily="18" charset="0"/>
                <a:cs typeface="Times New Roman" panose="02020603050405020304" pitchFamily="18" charset="0"/>
              </a:rPr>
              <a:t>more effectively in the transaction activities among the transaction participants (enterprises, groups, organizations and individuals). </a:t>
            </a:r>
            <a:endParaRPr lang="en-US"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Marketing of IT runs through the whole process of enterprise's </a:t>
            </a:r>
            <a:r>
              <a:rPr lang="en-US" b="1" dirty="0" smtClean="0">
                <a:latin typeface="Times New Roman" panose="02020603050405020304" pitchFamily="18" charset="0"/>
                <a:cs typeface="Times New Roman" panose="02020603050405020304" pitchFamily="18" charset="0"/>
              </a:rPr>
              <a:t>online operation</a:t>
            </a:r>
            <a:r>
              <a:rPr lang="en-US" dirty="0" smtClean="0">
                <a:latin typeface="Times New Roman" panose="02020603050405020304" pitchFamily="18" charset="0"/>
                <a:cs typeface="Times New Roman" panose="02020603050405020304" pitchFamily="18" charset="0"/>
              </a:rPr>
              <a:t>. From information release, information collection to e-commerce stage mainly based on online transaction, internet marketing has always been an important content. </a:t>
            </a:r>
            <a:endParaRPr lang="en-US" sz="1200" dirty="0" smtClean="0">
              <a:effectLst/>
              <a:latin typeface="Times New Roman" panose="02020603050405020304" pitchFamily="18" charset="0"/>
              <a:cs typeface="Times New Roman" panose="02020603050405020304" pitchFamily="18" charset="0"/>
            </a:endParaRPr>
          </a:p>
          <a:p>
            <a:endParaRPr lang="en-US" sz="1200" dirty="0" smtClean="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501382"/>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1.1 Definitions of </a:t>
            </a:r>
            <a:r>
              <a:rPr lang="en-US" b="1" dirty="0" smtClean="0">
                <a:solidFill>
                  <a:srgbClr val="FF0000"/>
                </a:solidFill>
                <a:latin typeface="Times New Roman" panose="02020603050405020304" pitchFamily="18" charset="0"/>
                <a:cs typeface="Times New Roman" panose="02020603050405020304" pitchFamily="18" charset="0"/>
              </a:rPr>
              <a:t>Marketing </a:t>
            </a:r>
            <a:r>
              <a:rPr lang="en-US" b="1" dirty="0">
                <a:solidFill>
                  <a:srgbClr val="FF0000"/>
                </a:solidFill>
                <a:latin typeface="Times New Roman" panose="02020603050405020304" pitchFamily="18" charset="0"/>
                <a:cs typeface="Times New Roman" panose="02020603050405020304" pitchFamily="18" charset="0"/>
              </a:rPr>
              <a:t>of IT </a:t>
            </a:r>
            <a:br>
              <a:rPr lang="en-US" b="1" dirty="0">
                <a:solidFill>
                  <a:srgbClr val="FF0000"/>
                </a:solidFill>
                <a:effectLst/>
                <a:latin typeface="Times New Roman" panose="02020603050405020304" pitchFamily="18" charset="0"/>
                <a:cs typeface="Times New Roman" panose="02020603050405020304" pitchFamily="18" charset="0"/>
              </a:rPr>
            </a:b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59410" y="1155065"/>
            <a:ext cx="10786745" cy="5133975"/>
          </a:xfrm>
        </p:spPr>
        <p:txBody>
          <a:bodyPr>
            <a:noAutofit/>
          </a:bodyPr>
          <a:lstStyle/>
          <a:p>
            <a:pPr marL="0" indent="0" algn="just">
              <a:lnSpc>
                <a:spcPct val="100000"/>
              </a:lnSpc>
              <a:buNone/>
            </a:pPr>
            <a:r>
              <a:rPr lang="en-US" sz="3600" dirty="0">
                <a:latin typeface="Times New Roman" panose="02020603050405020304" pitchFamily="18" charset="0"/>
                <a:cs typeface="Times New Roman" panose="02020603050405020304" pitchFamily="18" charset="0"/>
              </a:rPr>
              <a:t>◼ </a:t>
            </a:r>
            <a:r>
              <a:rPr lang="en-US" sz="3600" b="1" dirty="0">
                <a:solidFill>
                  <a:srgbClr val="0070C0"/>
                </a:solidFill>
                <a:latin typeface="Times New Roman" panose="02020603050405020304" pitchFamily="18" charset="0"/>
                <a:cs typeface="Times New Roman" panose="02020603050405020304" pitchFamily="18" charset="0"/>
              </a:rPr>
              <a:t>Definition 1:</a:t>
            </a:r>
            <a:r>
              <a:rPr lang="en-US" sz="3600" dirty="0">
                <a:latin typeface="Times New Roman" panose="02020603050405020304" pitchFamily="18" charset="0"/>
                <a:cs typeface="Times New Roman" panose="02020603050405020304" pitchFamily="18" charset="0"/>
              </a:rPr>
              <a:t> </a:t>
            </a:r>
            <a:r>
              <a:rPr lang="en-US" sz="3200" i="1" dirty="0">
                <a:latin typeface="Times New Roman" panose="02020603050405020304" pitchFamily="18" charset="0"/>
                <a:cs typeface="Times New Roman" panose="02020603050405020304" pitchFamily="18" charset="0"/>
              </a:rPr>
              <a:t>is an important part of the </a:t>
            </a:r>
            <a:r>
              <a:rPr lang="en-US" sz="3200" b="1" i="1" dirty="0">
                <a:latin typeface="Times New Roman" panose="02020603050405020304" pitchFamily="18" charset="0"/>
                <a:cs typeface="Times New Roman" panose="02020603050405020304" pitchFamily="18" charset="0"/>
              </a:rPr>
              <a:t>overall marketing strategy </a:t>
            </a:r>
            <a:r>
              <a:rPr lang="en-US" sz="3200" i="1" dirty="0">
                <a:latin typeface="Times New Roman" panose="02020603050405020304" pitchFamily="18" charset="0"/>
                <a:cs typeface="Times New Roman" panose="02020603050405020304" pitchFamily="18" charset="0"/>
              </a:rPr>
              <a:t>of an enterprise. It is a variety of commercial activities based on the </a:t>
            </a:r>
            <a:r>
              <a:rPr lang="en-US" sz="3200" b="1" i="1" dirty="0">
                <a:latin typeface="Times New Roman" panose="02020603050405020304" pitchFamily="18" charset="0"/>
                <a:cs typeface="Times New Roman" panose="02020603050405020304" pitchFamily="18" charset="0"/>
              </a:rPr>
              <a:t>Internet </a:t>
            </a:r>
            <a:r>
              <a:rPr lang="en-US" sz="3200" i="1" dirty="0">
                <a:latin typeface="Times New Roman" panose="02020603050405020304" pitchFamily="18" charset="0"/>
                <a:cs typeface="Times New Roman" panose="02020603050405020304" pitchFamily="18" charset="0"/>
              </a:rPr>
              <a:t>to create an </a:t>
            </a:r>
            <a:r>
              <a:rPr lang="en-US" sz="3200" b="1" i="1" dirty="0">
                <a:latin typeface="Times New Roman" panose="02020603050405020304" pitchFamily="18" charset="0"/>
                <a:cs typeface="Times New Roman" panose="02020603050405020304" pitchFamily="18" charset="0"/>
              </a:rPr>
              <a:t>online business environment </a:t>
            </a:r>
            <a:r>
              <a:rPr lang="en-US" sz="3200" i="1" dirty="0">
                <a:latin typeface="Times New Roman" panose="02020603050405020304" pitchFamily="18" charset="0"/>
                <a:cs typeface="Times New Roman" panose="02020603050405020304" pitchFamily="18" charset="0"/>
              </a:rPr>
              <a:t>for the realization of the overall </a:t>
            </a:r>
            <a:r>
              <a:rPr lang="en-US" sz="3200" b="1" i="1" dirty="0">
                <a:latin typeface="Times New Roman" panose="02020603050405020304" pitchFamily="18" charset="0"/>
                <a:cs typeface="Times New Roman" panose="02020603050405020304" pitchFamily="18" charset="0"/>
              </a:rPr>
              <a:t>business objectives </a:t>
            </a:r>
            <a:r>
              <a:rPr lang="en-US" sz="3200" i="1" dirty="0">
                <a:latin typeface="Times New Roman" panose="02020603050405020304" pitchFamily="18" charset="0"/>
                <a:cs typeface="Times New Roman" panose="02020603050405020304" pitchFamily="18" charset="0"/>
              </a:rPr>
              <a:t>of the enterprise. </a:t>
            </a:r>
            <a:endParaRPr lang="en-US" sz="3600" i="1" dirty="0">
              <a:latin typeface="Times New Roman" panose="02020603050405020304" pitchFamily="18" charset="0"/>
              <a:cs typeface="Times New Roman" panose="02020603050405020304" pitchFamily="18" charset="0"/>
            </a:endParaRPr>
          </a:p>
          <a:p>
            <a:pPr marL="0" indent="0" algn="just">
              <a:lnSpc>
                <a:spcPct val="100000"/>
              </a:lnSpc>
              <a:buNone/>
            </a:pPr>
            <a:r>
              <a:rPr lang="en-US" sz="3600" dirty="0" smtClean="0">
                <a:latin typeface="Times New Roman" panose="02020603050405020304" pitchFamily="18" charset="0"/>
                <a:cs typeface="Times New Roman" panose="02020603050405020304" pitchFamily="18" charset="0"/>
                <a:sym typeface="+mn-ea"/>
              </a:rPr>
              <a:t>◼  </a:t>
            </a:r>
            <a:r>
              <a:rPr lang="en-US" sz="3600" b="1" dirty="0" smtClean="0">
                <a:solidFill>
                  <a:srgbClr val="0070C0"/>
                </a:solidFill>
                <a:latin typeface="Times New Roman" panose="02020603050405020304" pitchFamily="18" charset="0"/>
                <a:cs typeface="Times New Roman" panose="02020603050405020304" pitchFamily="18" charset="0"/>
                <a:sym typeface="+mn-ea"/>
              </a:rPr>
              <a:t>Definition 2: </a:t>
            </a:r>
            <a:r>
              <a:rPr lang="en-US" sz="3200" i="1" dirty="0" smtClean="0">
                <a:latin typeface="Times New Roman" panose="02020603050405020304" pitchFamily="18" charset="0"/>
                <a:cs typeface="Times New Roman" panose="02020603050405020304" pitchFamily="18" charset="0"/>
                <a:sym typeface="+mn-ea"/>
              </a:rPr>
              <a:t>is a kind of marketing activities implemented in a totally new way, method and concept with the </a:t>
            </a:r>
            <a:r>
              <a:rPr lang="en-US" sz="3200" b="1" i="1" dirty="0" smtClean="0">
                <a:latin typeface="Times New Roman" panose="02020603050405020304" pitchFamily="18" charset="0"/>
                <a:cs typeface="Times New Roman" panose="02020603050405020304" pitchFamily="18" charset="0"/>
                <a:sym typeface="+mn-ea"/>
              </a:rPr>
              <a:t>Internet as the media and platform</a:t>
            </a:r>
            <a:r>
              <a:rPr lang="en-US" sz="3200" i="1" dirty="0" smtClean="0">
                <a:latin typeface="Times New Roman" panose="02020603050405020304" pitchFamily="18" charset="0"/>
                <a:cs typeface="Times New Roman" panose="02020603050405020304" pitchFamily="18" charset="0"/>
                <a:sym typeface="+mn-ea"/>
              </a:rPr>
              <a:t>, so as to realize the </a:t>
            </a:r>
            <a:r>
              <a:rPr lang="en-US" sz="3200" b="1" i="1" dirty="0" smtClean="0">
                <a:latin typeface="Times New Roman" panose="02020603050405020304" pitchFamily="18" charset="0"/>
                <a:cs typeface="Times New Roman" panose="02020603050405020304" pitchFamily="18" charset="0"/>
                <a:sym typeface="+mn-ea"/>
              </a:rPr>
              <a:t>new marketing mode </a:t>
            </a:r>
            <a:r>
              <a:rPr lang="en-US" sz="3200" i="1" dirty="0" smtClean="0">
                <a:latin typeface="Times New Roman" panose="02020603050405020304" pitchFamily="18" charset="0"/>
                <a:cs typeface="Times New Roman" panose="02020603050405020304" pitchFamily="18" charset="0"/>
                <a:sym typeface="+mn-ea"/>
              </a:rPr>
              <a:t>more effectively in the transaction activities among the transaction participants (enterprises, groups, organizations and individuals). </a:t>
            </a:r>
            <a:endParaRPr lang="en-US" sz="3200" i="1" dirty="0" smtClean="0">
              <a:latin typeface="Times New Roman" panose="02020603050405020304" pitchFamily="18" charset="0"/>
              <a:cs typeface="Times New Roman" panose="02020603050405020304" pitchFamily="18" charset="0"/>
            </a:endParaRPr>
          </a:p>
          <a:p>
            <a:pPr marL="0" indent="0">
              <a:buNone/>
            </a:pPr>
            <a:endParaRPr lang="en-US" sz="3200" i="1" dirty="0" smtClean="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76860"/>
          </a:xfrm>
        </p:spPr>
        <p:txBody>
          <a:bodyPr>
            <a:normAutofit fontScale="90000"/>
          </a:bodyPr>
          <a:lstStyle/>
          <a:p>
            <a:r>
              <a:rPr lang="en-US" b="1" i="1" dirty="0">
                <a:latin typeface="Times New Roman" panose="02020603050405020304" pitchFamily="18" charset="0"/>
                <a:cs typeface="Times New Roman" panose="02020603050405020304" pitchFamily="18" charset="0"/>
              </a:rPr>
              <a:t>Cont’d......</a:t>
            </a:r>
            <a:endParaRPr lang="en-US"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3240" y="708660"/>
            <a:ext cx="10958830" cy="5746115"/>
          </a:xfrm>
        </p:spPr>
        <p:txBody>
          <a:bodyPr>
            <a:noAutofit/>
          </a:bodyPr>
          <a:lstStyle/>
          <a:p>
            <a:pPr marL="0" indent="0" algn="just">
              <a:lnSpc>
                <a:spcPct val="100000"/>
              </a:lnSpc>
              <a:buNone/>
            </a:pPr>
            <a:r>
              <a:rPr lang="en-US" sz="3600" b="1" dirty="0">
                <a:solidFill>
                  <a:schemeClr val="accent1"/>
                </a:solidFill>
                <a:latin typeface="Times New Roman" panose="02020603050405020304" pitchFamily="18" charset="0"/>
                <a:cs typeface="Times New Roman" panose="02020603050405020304" pitchFamily="18" charset="0"/>
                <a:sym typeface="+mn-ea"/>
              </a:rPr>
              <a:t>Definition 3.</a:t>
            </a:r>
            <a:r>
              <a:rPr lang="en-US" sz="3600" dirty="0">
                <a:latin typeface="Times New Roman" panose="02020603050405020304" pitchFamily="18" charset="0"/>
                <a:cs typeface="Times New Roman" panose="02020603050405020304" pitchFamily="18" charset="0"/>
                <a:sym typeface="+mn-ea"/>
              </a:rPr>
              <a:t> isaprocess that involves comprehensively understanding the marketplace, competitors, and target audiences. </a:t>
            </a:r>
            <a:endParaRPr lang="en-US" sz="3600" dirty="0">
              <a:latin typeface="Times New Roman" panose="02020603050405020304" pitchFamily="18" charset="0"/>
              <a:cs typeface="Times New Roman" panose="02020603050405020304" pitchFamily="18" charset="0"/>
              <a:sym typeface="+mn-ea"/>
            </a:endParaRPr>
          </a:p>
          <a:p>
            <a:pPr marL="0" indent="0" algn="just">
              <a:lnSpc>
                <a:spcPct val="100000"/>
              </a:lnSpc>
              <a:buNone/>
            </a:pPr>
            <a:r>
              <a:rPr lang="en-US" sz="3600" dirty="0">
                <a:latin typeface="Times New Roman" panose="02020603050405020304" pitchFamily="18" charset="0"/>
                <a:cs typeface="Times New Roman" panose="02020603050405020304" pitchFamily="18" charset="0"/>
                <a:sym typeface="+mn-ea"/>
              </a:rPr>
              <a:t>It encompasses defining a firm’s market positioning, pricing strategies, and service offerings while effectively promoting these elements to potential clients. </a:t>
            </a:r>
            <a:endParaRPr lang="en-US" sz="3600" dirty="0">
              <a:latin typeface="Times New Roman" panose="02020603050405020304" pitchFamily="18" charset="0"/>
              <a:cs typeface="Times New Roman" panose="02020603050405020304" pitchFamily="18" charset="0"/>
            </a:endParaRPr>
          </a:p>
          <a:p>
            <a:pPr marL="0" indent="0" algn="just">
              <a:lnSpc>
                <a:spcPct val="100000"/>
              </a:lnSpc>
              <a:buNone/>
            </a:pPr>
            <a:r>
              <a:rPr lang="en-US" sz="3600" dirty="0">
                <a:latin typeface="Times New Roman" panose="02020603050405020304" pitchFamily="18" charset="0"/>
                <a:cs typeface="Times New Roman" panose="02020603050405020304" pitchFamily="18" charset="0"/>
                <a:sym typeface="+mn-ea"/>
              </a:rPr>
              <a:t>The essence of IT marketing lies in delivering the right services with the appropriate benefits to the right prospects.</a:t>
            </a:r>
            <a:endParaRPr lang="en-US" sz="36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26085"/>
          </a:xfrm>
        </p:spPr>
        <p:txBody>
          <a:bodyPr>
            <a:normAutofit fontScale="90000"/>
          </a:bodyPr>
          <a:lstStyle/>
          <a:p>
            <a:r>
              <a:rPr lang="en-US" b="1" i="1">
                <a:latin typeface="Times New Roman" panose="02020603050405020304" pitchFamily="18" charset="0"/>
                <a:cs typeface="Times New Roman" panose="02020603050405020304" pitchFamily="18" charset="0"/>
              </a:rPr>
              <a:t>Cont’d....</a:t>
            </a:r>
            <a:endParaRPr lang="en-US" b="1" i="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42290" y="791845"/>
            <a:ext cx="11266170" cy="5760720"/>
          </a:xfrm>
        </p:spPr>
        <p:txBody>
          <a:bodyPr>
            <a:normAutofit lnSpcReduction="10000"/>
          </a:bodyPr>
          <a:lstStyle/>
          <a:p>
            <a:pPr marL="0" indent="0" algn="just">
              <a:lnSpc>
                <a:spcPct val="150000"/>
              </a:lnSpc>
              <a:buNone/>
            </a:pPr>
            <a:r>
              <a:rPr lang="en-US" b="1" i="1" dirty="0">
                <a:solidFill>
                  <a:schemeClr val="accent5"/>
                </a:solidFill>
                <a:latin typeface="Times New Roman" panose="02020603050405020304" pitchFamily="18" charset="0"/>
                <a:cs typeface="Times New Roman" panose="02020603050405020304" pitchFamily="18" charset="0"/>
              </a:rPr>
              <a:t>Definition 4</a:t>
            </a:r>
            <a:endParaRPr lang="en-US" i="1" dirty="0">
              <a:solidFill>
                <a:schemeClr val="accent5"/>
              </a:solidFill>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IT Marketing refers to the process of planning, pricing, promoting, and distributing information technology (IT) products and services to target customers in order to satisfy their needs and achieve organizational objectives.</a:t>
            </a: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altLang="en-US">
                <a:latin typeface="Times New Roman" panose="02020603050405020304" pitchFamily="18" charset="0"/>
                <a:cs typeface="Times New Roman" panose="02020603050405020304" pitchFamily="18" charset="0"/>
                <a:sym typeface="+mn-ea"/>
              </a:rPr>
              <a:t>Marketing of IT concentrates on promoting, positioning, and delivering value for technology-based products and services. Unlike traditional marketing, IT marketing emphasizes innovation, technical performance, integration, scalability, and long-term customer relationships.</a:t>
            </a:r>
            <a:endParaRPr lang="en-US" altLang="en-US">
              <a:latin typeface="Times New Roman" panose="02020603050405020304" pitchFamily="18" charset="0"/>
              <a:cs typeface="Times New Roman" panose="02020603050405020304" pitchFamily="18" charset="0"/>
              <a:sym typeface="+mn-ea"/>
            </a:endParaRP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82600" y="365125"/>
            <a:ext cx="11196955" cy="1325880"/>
          </a:xfrm>
        </p:spPr>
        <p:txBody>
          <a:bodyPr>
            <a:noAutofit/>
          </a:bodyPr>
          <a:p>
            <a:r>
              <a:rPr lang="en-US" sz="4800" b="1">
                <a:solidFill>
                  <a:srgbClr val="0070C0"/>
                </a:solidFill>
                <a:latin typeface="Times New Roman" panose="02020603050405020304" pitchFamily="18" charset="0"/>
                <a:ea typeface="Inter"/>
                <a:cs typeface="Times New Roman" panose="02020603050405020304" pitchFamily="18" charset="0"/>
                <a:sym typeface="+mn-ea"/>
              </a:rPr>
              <a:t>1.2 </a:t>
            </a:r>
            <a:r>
              <a:rPr sz="4800" b="1">
                <a:solidFill>
                  <a:srgbClr val="0070C0"/>
                </a:solidFill>
                <a:latin typeface="Times New Roman" panose="02020603050405020304" pitchFamily="18" charset="0"/>
                <a:ea typeface="Inter"/>
                <a:cs typeface="Times New Roman" panose="02020603050405020304" pitchFamily="18" charset="0"/>
                <a:sym typeface="+mn-ea"/>
              </a:rPr>
              <a:t>PHILOSOPHIES IN MARKETING OF I</a:t>
            </a:r>
            <a:r>
              <a:rPr lang="en-US" sz="4800" b="1">
                <a:solidFill>
                  <a:srgbClr val="0070C0"/>
                </a:solidFill>
                <a:latin typeface="Times New Roman" panose="02020603050405020304" pitchFamily="18" charset="0"/>
                <a:ea typeface="Inter"/>
                <a:cs typeface="Times New Roman" panose="02020603050405020304" pitchFamily="18" charset="0"/>
                <a:sym typeface="+mn-ea"/>
              </a:rPr>
              <a:t>NFORMATION </a:t>
            </a:r>
            <a:r>
              <a:rPr sz="4800" b="1">
                <a:solidFill>
                  <a:srgbClr val="0070C0"/>
                </a:solidFill>
                <a:latin typeface="Times New Roman" panose="02020603050405020304" pitchFamily="18" charset="0"/>
                <a:ea typeface="Inter"/>
                <a:cs typeface="Times New Roman" panose="02020603050405020304" pitchFamily="18" charset="0"/>
                <a:sym typeface="+mn-ea"/>
              </a:rPr>
              <a:t>T</a:t>
            </a:r>
            <a:r>
              <a:rPr lang="en-US" sz="4800" b="1">
                <a:solidFill>
                  <a:srgbClr val="0070C0"/>
                </a:solidFill>
                <a:latin typeface="Times New Roman" panose="02020603050405020304" pitchFamily="18" charset="0"/>
                <a:ea typeface="Inter"/>
                <a:cs typeface="Times New Roman" panose="02020603050405020304" pitchFamily="18" charset="0"/>
                <a:sym typeface="+mn-ea"/>
              </a:rPr>
              <a:t>ECHNOLOGY</a:t>
            </a:r>
            <a:endParaRPr lang="en-US" sz="4800" b="1">
              <a:solidFill>
                <a:srgbClr val="0070C0"/>
              </a:solidFill>
              <a:latin typeface="Times New Roman" panose="02020603050405020304" pitchFamily="18" charset="0"/>
              <a:ea typeface="Inter"/>
              <a:cs typeface="Times New Roman" panose="02020603050405020304" pitchFamily="18" charset="0"/>
              <a:sym typeface="+mn-ea"/>
            </a:endParaRPr>
          </a:p>
        </p:txBody>
      </p:sp>
      <p:sp>
        <p:nvSpPr>
          <p:cNvPr id="3" name="Content Placeholder 2"/>
          <p:cNvSpPr>
            <a:spLocks noGrp="1"/>
          </p:cNvSpPr>
          <p:nvPr>
            <p:ph idx="1"/>
          </p:nvPr>
        </p:nvSpPr>
        <p:spPr/>
        <p:txBody>
          <a:bodyPr>
            <a:normAutofit/>
          </a:bodyPr>
          <a:p>
            <a:pPr algn="l">
              <a:lnSpc>
                <a:spcPct val="150000"/>
              </a:lnSpc>
            </a:pPr>
            <a:r>
              <a:rPr lang="en-US" altLang="en-US" sz="3600">
                <a:latin typeface="Times New Roman" panose="02020603050405020304" pitchFamily="18" charset="0"/>
                <a:cs typeface="Times New Roman" panose="02020603050405020304" pitchFamily="18" charset="0"/>
              </a:rPr>
              <a:t>Marketing philosophies can be adapted from traditional marketing concepts to better suit the unique characteristics and demands of the tech industry. </a:t>
            </a:r>
            <a:endParaRPr lang="en-US" altLang="en-US" sz="3600">
              <a:latin typeface="Times New Roman" panose="02020603050405020304" pitchFamily="18" charset="0"/>
              <a:cs typeface="Times New Roman" panose="02020603050405020304" pitchFamily="18" charset="0"/>
            </a:endParaRPr>
          </a:p>
          <a:p>
            <a:pPr algn="l">
              <a:lnSpc>
                <a:spcPct val="150000"/>
              </a:lnSpc>
            </a:pPr>
            <a:r>
              <a:rPr lang="en-US" altLang="en-US" sz="3600">
                <a:latin typeface="Times New Roman" panose="02020603050405020304" pitchFamily="18" charset="0"/>
                <a:cs typeface="Times New Roman" panose="02020603050405020304" pitchFamily="18" charset="0"/>
              </a:rPr>
              <a:t>The following outlines how each of the five primary marketing philosophies can be applied within IT:</a:t>
            </a:r>
            <a:endParaRPr lang="en-US" altLang="en-US"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58545"/>
          </a:xfrm>
        </p:spPr>
        <p:txBody>
          <a:bodyPr/>
          <a:p>
            <a:r>
              <a:rPr lang="en-US" altLang="en-US" sz="4800" b="1">
                <a:solidFill>
                  <a:srgbClr val="00B050"/>
                </a:solidFill>
                <a:latin typeface="Times New Roman" panose="02020603050405020304" pitchFamily="18" charset="0"/>
                <a:cs typeface="Times New Roman" panose="02020603050405020304" pitchFamily="18" charset="0"/>
                <a:sym typeface="+mn-ea"/>
              </a:rPr>
              <a:t>1. Production Concept</a:t>
            </a:r>
            <a:endParaRPr lang="en-US" altLang="en-US" sz="4800" b="1">
              <a:solidFill>
                <a:srgbClr val="00B05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38200" y="1221740"/>
            <a:ext cx="10515600" cy="5321300"/>
          </a:xfrm>
        </p:spPr>
        <p:txBody>
          <a:bodyPr>
            <a:normAutofit lnSpcReduction="10000"/>
          </a:bodyPr>
          <a:p>
            <a:pPr marL="0" indent="0" algn="just">
              <a:buNone/>
            </a:pPr>
            <a:r>
              <a:rPr lang="en-US" altLang="en-US">
                <a:latin typeface="Times New Roman" panose="02020603050405020304" pitchFamily="18" charset="0"/>
                <a:cs typeface="Times New Roman" panose="02020603050405020304" pitchFamily="18" charset="0"/>
              </a:rPr>
              <a:t>The production concept in IT focuses on creating software or hardware products that are affordable and widely accessible. Companies operating under this philosophy prioritize efficiency in production processes, aiming to reduce costs while maximizing output. This approach is particularly relevant in sectors where technology is rapidly evolving, and companies must scale their operations quickly to meet demand.</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Pros</a:t>
            </a:r>
            <a:endParaRPr lang="en-US" altLang="en-US" b="1">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Cost efficiency through economies of scale.</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Ability to penetrate markets with low-priced offerings.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Cons</a:t>
            </a:r>
            <a:endParaRPr lang="en-US" altLang="en-US" b="1">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Potential compromise on product quality.</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Risk of neglecting customer needs beyond price considerations.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5400" b="1">
                <a:solidFill>
                  <a:srgbClr val="00B050"/>
                </a:solidFill>
                <a:latin typeface="Times New Roman" panose="02020603050405020304" pitchFamily="18" charset="0"/>
                <a:cs typeface="Times New Roman" panose="02020603050405020304" pitchFamily="18" charset="0"/>
                <a:sym typeface="+mn-ea"/>
              </a:rPr>
              <a:t>2. Product Concept</a:t>
            </a:r>
            <a:endParaRPr lang="en-US" altLang="en-US" sz="5400" b="1">
              <a:solidFill>
                <a:srgbClr val="00B05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p:txBody>
          <a:bodyPr>
            <a:noAutofit/>
          </a:bodyPr>
          <a:p>
            <a:pPr marL="0" indent="0" algn="just">
              <a:buNone/>
            </a:pPr>
            <a:r>
              <a:rPr lang="en-US" altLang="en-US">
                <a:latin typeface="Times New Roman" panose="02020603050405020304" pitchFamily="18" charset="0"/>
                <a:cs typeface="Times New Roman" panose="02020603050405020304" pitchFamily="18" charset="0"/>
              </a:rPr>
              <a:t>The product concept emphasizes high-quality, innovative IT solutions that meet specific user needs. Companies adopting this philosophy invest heavily in research and development to create superior products, believing that customers will choose quality over price.</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Pros:</a:t>
            </a:r>
            <a:endParaRPr lang="en-US" altLang="en-US" b="1">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High customer satisfaction due to superior product performance.</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Strong brand loyalty as a result of exceptional quality.</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Cons: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Higher production costs associated with R&amp;D.</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Limited appeal if customers prioritize affordability over quality.</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4800" b="1">
                <a:solidFill>
                  <a:srgbClr val="00B050"/>
                </a:solidFill>
                <a:latin typeface="Times New Roman" panose="02020603050405020304" pitchFamily="18" charset="0"/>
                <a:cs typeface="Times New Roman" panose="02020603050405020304" pitchFamily="18" charset="0"/>
                <a:sym typeface="+mn-ea"/>
              </a:rPr>
              <a:t>3. Selling Concept</a:t>
            </a:r>
            <a:endParaRPr lang="en-US" altLang="en-US" sz="4800" b="1">
              <a:solidFill>
                <a:srgbClr val="00B05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611505" y="1489710"/>
            <a:ext cx="10742295" cy="5141595"/>
          </a:xfrm>
        </p:spPr>
        <p:txBody>
          <a:bodyPr>
            <a:normAutofit/>
          </a:bodyPr>
          <a:p>
            <a:pPr marL="0" indent="0" algn="just">
              <a:buNone/>
            </a:pPr>
            <a:r>
              <a:rPr lang="en-US" altLang="en-US">
                <a:latin typeface="Times New Roman" panose="02020603050405020304" pitchFamily="18" charset="0"/>
                <a:cs typeface="Times New Roman" panose="02020603050405020304" pitchFamily="18" charset="0"/>
              </a:rPr>
              <a:t>The selling concept in IT revolves around aggressive sales tactics and promotional efforts to drive product adoption. This approach may involve pushing products onto consumers without adequately addressing their specific needs or preferences.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Pros</a:t>
            </a:r>
            <a:endParaRPr lang="en-US" altLang="en-US" b="1">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Immediate sales boosts through effective promotions.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Increased market visibility for new products.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Cons</a:t>
            </a:r>
            <a:endParaRPr lang="en-US" altLang="en-US" b="1">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Short-term focus may lead to poor customer retention.</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Risk of damaging brand reputation if customers feel manipulated.</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68705"/>
          </a:xfrm>
        </p:spPr>
        <p:txBody>
          <a:bodyPr/>
          <a:p>
            <a:r>
              <a:rPr lang="en-US" altLang="en-US" sz="5400" b="1">
                <a:solidFill>
                  <a:srgbClr val="00B050"/>
                </a:solidFill>
                <a:latin typeface="Times New Roman" panose="02020603050405020304" pitchFamily="18" charset="0"/>
                <a:cs typeface="Times New Roman" panose="02020603050405020304" pitchFamily="18" charset="0"/>
                <a:sym typeface="+mn-ea"/>
              </a:rPr>
              <a:t>4. Marketing Concept</a:t>
            </a:r>
            <a:endParaRPr lang="en-US" altLang="en-US" sz="5400" b="1">
              <a:solidFill>
                <a:srgbClr val="00B05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570865" y="1242060"/>
            <a:ext cx="10782935" cy="5547995"/>
          </a:xfrm>
        </p:spPr>
        <p:txBody>
          <a:bodyPr>
            <a:normAutofit fontScale="90000"/>
          </a:bodyPr>
          <a:p>
            <a:pPr marL="0" indent="0" algn="just">
              <a:buNone/>
            </a:pPr>
            <a:r>
              <a:rPr lang="en-US" altLang="en-US">
                <a:latin typeface="Times New Roman" panose="02020603050405020304" pitchFamily="18" charset="0"/>
                <a:cs typeface="Times New Roman" panose="02020603050405020304" pitchFamily="18" charset="0"/>
              </a:rPr>
              <a:t>The marketing concept is centered on understanding and fulfilling customer needs through tailored IT solutions. Companies employing this philosophy conduct extensive market research to identify user requirements and develop products that align closely with those needs.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Pros</a:t>
            </a:r>
            <a:endParaRPr lang="en-US" altLang="en-US" b="1">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Builds long-term relationships with customers based on trust and satisfaction.</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Greater likelihood of repeat business due to alignment with consumer expectations.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Cons</a:t>
            </a:r>
            <a:endParaRPr lang="en-US" altLang="en-US" b="1">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Requires significant investment in market research and analysis.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Potentially slower response times as companies adapt to changing consumer preferences.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67640"/>
            <a:ext cx="10515600" cy="890905"/>
          </a:xfrm>
        </p:spPr>
        <p:txBody>
          <a:bodyPr/>
          <a:p>
            <a:r>
              <a:rPr lang="en-US" altLang="en-US" sz="5400" b="1">
                <a:solidFill>
                  <a:srgbClr val="00B050"/>
                </a:solidFill>
                <a:latin typeface="Times New Roman" panose="02020603050405020304" pitchFamily="18" charset="0"/>
                <a:cs typeface="Times New Roman" panose="02020603050405020304" pitchFamily="18" charset="0"/>
                <a:sym typeface="+mn-ea"/>
              </a:rPr>
              <a:t>5. Societal Marketing Concept</a:t>
            </a:r>
            <a:endParaRPr lang="en-US" altLang="en-US" sz="5400" b="1">
              <a:solidFill>
                <a:srgbClr val="00B05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561340" y="1137920"/>
            <a:ext cx="10951210" cy="5494655"/>
          </a:xfrm>
        </p:spPr>
        <p:txBody>
          <a:bodyPr>
            <a:noAutofit/>
          </a:bodyPr>
          <a:p>
            <a:pPr marL="0" indent="0" algn="just">
              <a:buNone/>
            </a:pPr>
            <a:r>
              <a:rPr lang="en-US" altLang="en-US">
                <a:latin typeface="Times New Roman" panose="02020603050405020304" pitchFamily="18" charset="0"/>
                <a:cs typeface="Times New Roman" panose="02020603050405020304" pitchFamily="18" charset="0"/>
              </a:rPr>
              <a:t>This philosophy extends beyond mere profit generation by considering the broader societal impacts of IT products. Companies following this approach aim to create technology solutions that not only satisfy customer needs but also promote social good, such as sustainability or accessibility for underserved populations.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Pros</a:t>
            </a:r>
            <a:endParaRPr lang="en-US" altLang="en-US" b="1">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Positive brand image associated with corporate social responsibility (CSR).</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Attraction of socially-conscious consumers who prioritize ethical considerations.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Cons</a:t>
            </a:r>
            <a:endParaRPr lang="en-US" altLang="en-US" b="1">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Balancing profitability with social objectives can be challenging.</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Potentially higher costs associated with sustainable practices.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3510"/>
            <a:ext cx="10515600" cy="864870"/>
          </a:xfrm>
        </p:spPr>
        <p:txBody>
          <a:bodyPr>
            <a:noAutofit/>
          </a:bodyPr>
          <a:p>
            <a:r>
              <a:rPr lang="en-US" altLang="en-US" sz="5400" b="1">
                <a:solidFill>
                  <a:srgbClr val="FF0000"/>
                </a:solidFill>
                <a:latin typeface="Times New Roman" panose="02020603050405020304" pitchFamily="18" charset="0"/>
                <a:cs typeface="Times New Roman" panose="02020603050405020304" pitchFamily="18" charset="0"/>
                <a:sym typeface="+mn-ea"/>
              </a:rPr>
              <a:t>1.3 Marketing of IT categories</a:t>
            </a:r>
            <a:endParaRPr lang="en-US" altLang="en-US" sz="5400" b="1">
              <a:solidFill>
                <a:srgbClr val="FF00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38200" y="1335405"/>
            <a:ext cx="10515600" cy="4841875"/>
          </a:xfrm>
        </p:spPr>
        <p:txBody>
          <a:bodyPr>
            <a:normAutofit/>
          </a:bodyPr>
          <a:p>
            <a:pPr marL="0" lvl="0" indent="0" algn="just">
              <a:buNone/>
            </a:pPr>
            <a:r>
              <a:rPr lang="en-US" altLang="en-US">
                <a:latin typeface="Times New Roman" panose="02020603050405020304" pitchFamily="18" charset="0"/>
                <a:cs typeface="Times New Roman" panose="02020603050405020304" pitchFamily="18" charset="0"/>
              </a:rPr>
              <a:t>Marketing of IT (Information Technology) can be grouped into two key categories based on the type of offering being marketed and the target market served</a:t>
            </a:r>
            <a:endParaRPr lang="en-US" altLang="en-US">
              <a:latin typeface="Times New Roman" panose="02020603050405020304" pitchFamily="18" charset="0"/>
              <a:cs typeface="Times New Roman" panose="02020603050405020304" pitchFamily="18" charset="0"/>
            </a:endParaRPr>
          </a:p>
          <a:p>
            <a:pPr marL="514350" lvl="0" indent="-514350" algn="just">
              <a:buFont typeface="+mj-lt"/>
              <a:buAutoNum type="arabicPeriod"/>
            </a:pPr>
            <a:r>
              <a:rPr lang="en-US" dirty="0">
                <a:latin typeface="Times New Roman" panose="02020603050405020304" pitchFamily="18" charset="0"/>
                <a:cs typeface="Times New Roman" panose="02020603050405020304" pitchFamily="18" charset="0"/>
                <a:sym typeface="+mn-ea"/>
              </a:rPr>
              <a:t>Software</a:t>
            </a:r>
            <a:endParaRPr lang="en-US" dirty="0">
              <a:latin typeface="Times New Roman" panose="02020603050405020304" pitchFamily="18" charset="0"/>
              <a:cs typeface="Times New Roman" panose="02020603050405020304" pitchFamily="18" charset="0"/>
              <a:sym typeface="+mn-ea"/>
            </a:endParaRPr>
          </a:p>
          <a:p>
            <a:pPr marL="514350" lvl="0" indent="-514350" algn="just">
              <a:buFont typeface="+mj-lt"/>
              <a:buAutoNum type="arabicPeriod"/>
            </a:pPr>
            <a:r>
              <a:rPr lang="en-US" dirty="0">
                <a:latin typeface="Times New Roman" panose="02020603050405020304" pitchFamily="18" charset="0"/>
                <a:cs typeface="Times New Roman" panose="02020603050405020304" pitchFamily="18" charset="0"/>
                <a:sym typeface="+mn-ea"/>
              </a:rPr>
              <a:t>Hardware</a:t>
            </a:r>
            <a:endParaRPr lang="en-US" dirty="0">
              <a:latin typeface="Times New Roman" panose="02020603050405020304" pitchFamily="18" charset="0"/>
              <a:cs typeface="Times New Roman" panose="02020603050405020304" pitchFamily="18" charset="0"/>
              <a:sym typeface="+mn-ea"/>
            </a:endParaRPr>
          </a:p>
          <a:p>
            <a:pPr lvl="0" algn="just"/>
            <a:endParaRPr lang="en-US">
              <a:latin typeface="Times New Roman" panose="02020603050405020304" pitchFamily="18" charset="0"/>
              <a:cs typeface="Times New Roman" panose="02020603050405020304" pitchFamily="18" charset="0"/>
            </a:endParaRPr>
          </a:p>
          <a:p>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53415"/>
          </a:xfrm>
        </p:spPr>
        <p:txBody>
          <a:bodyPr>
            <a:noAutofit/>
          </a:bodyPr>
          <a:p>
            <a:r>
              <a:rPr lang="en-US" altLang="en-US" sz="4800" b="1">
                <a:solidFill>
                  <a:schemeClr val="accent5"/>
                </a:solidFill>
                <a:latin typeface="Times New Roman" panose="02020603050405020304" pitchFamily="18" charset="0"/>
                <a:cs typeface="Times New Roman" panose="02020603050405020304" pitchFamily="18" charset="0"/>
                <a:sym typeface="+mn-ea"/>
              </a:rPr>
              <a:t>1. Software Marketing</a:t>
            </a:r>
            <a:endParaRPr lang="en-US" altLang="en-US" sz="4800" b="1">
              <a:solidFill>
                <a:schemeClr val="accent5"/>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443865" y="1018540"/>
            <a:ext cx="11419205" cy="5707380"/>
          </a:xfrm>
        </p:spPr>
        <p:txBody>
          <a:bodyPr>
            <a:noAutofit/>
          </a:bodyPr>
          <a:p>
            <a:pPr marL="0" indent="0" algn="just">
              <a:lnSpc>
                <a:spcPct val="100000"/>
              </a:lnSpc>
              <a:spcBef>
                <a:spcPts val="0"/>
              </a:spcBef>
              <a:spcAft>
                <a:spcPts val="0"/>
              </a:spcAft>
              <a:buNone/>
            </a:pPr>
            <a:r>
              <a:rPr lang="en-US" altLang="en-US" sz="3200">
                <a:latin typeface="Times New Roman" panose="02020603050405020304" pitchFamily="18" charset="0"/>
                <a:cs typeface="Times New Roman" panose="02020603050405020304" pitchFamily="18" charset="0"/>
              </a:rPr>
              <a:t>This involves marketing different types of software products and solutions.</a:t>
            </a:r>
            <a:endParaRPr lang="en-US" altLang="en-US" sz="3200">
              <a:latin typeface="Times New Roman" panose="02020603050405020304" pitchFamily="18" charset="0"/>
              <a:cs typeface="Times New Roman" panose="02020603050405020304" pitchFamily="18" charset="0"/>
            </a:endParaRPr>
          </a:p>
          <a:p>
            <a:pPr marL="0" indent="0" algn="just">
              <a:lnSpc>
                <a:spcPct val="100000"/>
              </a:lnSpc>
              <a:spcBef>
                <a:spcPts val="0"/>
              </a:spcBef>
              <a:spcAft>
                <a:spcPts val="0"/>
              </a:spcAft>
              <a:buNone/>
            </a:pPr>
            <a:endParaRPr lang="en-US" altLang="en-US" sz="3200">
              <a:latin typeface="Times New Roman" panose="02020603050405020304" pitchFamily="18" charset="0"/>
              <a:cs typeface="Times New Roman" panose="02020603050405020304" pitchFamily="18" charset="0"/>
            </a:endParaRPr>
          </a:p>
          <a:p>
            <a:pPr marL="0" indent="0" algn="just">
              <a:lnSpc>
                <a:spcPct val="100000"/>
              </a:lnSpc>
              <a:spcBef>
                <a:spcPts val="0"/>
              </a:spcBef>
              <a:spcAft>
                <a:spcPts val="0"/>
              </a:spcAft>
              <a:buNone/>
            </a:pPr>
            <a:r>
              <a:rPr lang="en-US" altLang="en-US" sz="3200">
                <a:latin typeface="Times New Roman" panose="02020603050405020304" pitchFamily="18" charset="0"/>
                <a:cs typeface="Times New Roman" panose="02020603050405020304" pitchFamily="18" charset="0"/>
              </a:rPr>
              <a:t>Software Marketing is the set of strategies and activities used to promote, price, distribute, and support software products in the market to attract and retain customers.</a:t>
            </a:r>
            <a:endParaRPr lang="en-US" altLang="en-US" sz="3200">
              <a:latin typeface="Times New Roman" panose="02020603050405020304" pitchFamily="18" charset="0"/>
              <a:cs typeface="Times New Roman" panose="02020603050405020304" pitchFamily="18" charset="0"/>
            </a:endParaRPr>
          </a:p>
          <a:p>
            <a:pPr marL="0" indent="0" algn="just">
              <a:lnSpc>
                <a:spcPct val="100000"/>
              </a:lnSpc>
              <a:spcBef>
                <a:spcPts val="0"/>
              </a:spcBef>
              <a:spcAft>
                <a:spcPts val="0"/>
              </a:spcAft>
              <a:buNone/>
            </a:pPr>
            <a:endParaRPr lang="en-US" altLang="en-US" sz="3200">
              <a:latin typeface="Times New Roman" panose="02020603050405020304" pitchFamily="18" charset="0"/>
              <a:cs typeface="Times New Roman" panose="02020603050405020304" pitchFamily="18" charset="0"/>
            </a:endParaRPr>
          </a:p>
          <a:p>
            <a:pPr marL="0" indent="0" algn="just">
              <a:lnSpc>
                <a:spcPct val="100000"/>
              </a:lnSpc>
              <a:spcBef>
                <a:spcPts val="0"/>
              </a:spcBef>
              <a:spcAft>
                <a:spcPts val="0"/>
              </a:spcAft>
              <a:buNone/>
            </a:pPr>
            <a:endParaRPr lang="en-US" altLang="en-US" sz="3200">
              <a:latin typeface="Times New Roman" panose="02020603050405020304" pitchFamily="18" charset="0"/>
              <a:cs typeface="Times New Roman" panose="02020603050405020304" pitchFamily="18" charset="0"/>
            </a:endParaRPr>
          </a:p>
          <a:p>
            <a:pPr marL="0" indent="0" algn="just">
              <a:lnSpc>
                <a:spcPct val="100000"/>
              </a:lnSpc>
              <a:spcBef>
                <a:spcPts val="0"/>
              </a:spcBef>
              <a:spcAft>
                <a:spcPts val="0"/>
              </a:spcAft>
              <a:buNone/>
            </a:pPr>
            <a:r>
              <a:rPr lang="en-US" altLang="en-US" sz="3200">
                <a:latin typeface="Times New Roman" panose="02020603050405020304" pitchFamily="18" charset="0"/>
                <a:cs typeface="Times New Roman" panose="02020603050405020304" pitchFamily="18" charset="0"/>
              </a:rPr>
              <a:t>Unlike physical products, software is intangible and often delivered digitally. Therefore, software marketing focuses on demonstrating value, usability, performance, security, and benefits to customers.</a:t>
            </a:r>
            <a:endParaRPr lang="en-US" altLang="en-US" sz="3200">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panose="02020603050405020304" pitchFamily="18" charset="0"/>
                <a:cs typeface="Times New Roman" panose="02020603050405020304" pitchFamily="18" charset="0"/>
                <a:sym typeface="+mn-ea"/>
              </a:rPr>
              <a:t>A. Types of Software Marketed</a:t>
            </a:r>
            <a:endParaRPr lang="en-US"/>
          </a:p>
        </p:txBody>
      </p:sp>
      <p:sp>
        <p:nvSpPr>
          <p:cNvPr id="3" name="Content Placeholder 2"/>
          <p:cNvSpPr>
            <a:spLocks noGrp="1"/>
          </p:cNvSpPr>
          <p:nvPr>
            <p:ph idx="1"/>
          </p:nvPr>
        </p:nvSpPr>
        <p:spPr/>
        <p:txBody>
          <a:bodyPr>
            <a:normAutofit lnSpcReduction="10000"/>
          </a:bodyPr>
          <a:p>
            <a:pPr marL="0" indent="0" algn="just">
              <a:lnSpc>
                <a:spcPct val="100000"/>
              </a:lnSpc>
              <a:spcBef>
                <a:spcPts val="0"/>
              </a:spcBef>
              <a:spcAft>
                <a:spcPts val="0"/>
              </a:spcAft>
              <a:buNone/>
            </a:pPr>
            <a:r>
              <a:rPr lang="en-US" altLang="en-US" b="1">
                <a:latin typeface="Times New Roman" panose="02020603050405020304" pitchFamily="18" charset="0"/>
                <a:cs typeface="Times New Roman" panose="02020603050405020304" pitchFamily="18" charset="0"/>
                <a:sym typeface="+mn-ea"/>
              </a:rPr>
              <a:t>(i). Enterprise software (ERP, CRM, HR systems): </a:t>
            </a:r>
            <a:r>
              <a:rPr lang="en-US" altLang="en-US">
                <a:latin typeface="Times New Roman" panose="02020603050405020304" pitchFamily="18" charset="0"/>
                <a:cs typeface="Times New Roman" panose="02020603050405020304" pitchFamily="18" charset="0"/>
                <a:sym typeface="+mn-ea"/>
              </a:rPr>
              <a:t>refers to large-scale software systems designed to help organizations manage and automate core business processes. In software marketing, enterprise software is marketed primarily to businesses, corporations, and institutions (B2B markets) rather than individual consumers.</a:t>
            </a:r>
            <a:endParaRPr lang="en-US" altLang="en-US">
              <a:latin typeface="Times New Roman" panose="02020603050405020304" pitchFamily="18" charset="0"/>
              <a:cs typeface="Times New Roman" panose="02020603050405020304" pitchFamily="18" charset="0"/>
            </a:endParaRPr>
          </a:p>
          <a:p>
            <a:pPr marL="0" indent="0" algn="just">
              <a:lnSpc>
                <a:spcPct val="100000"/>
              </a:lnSpc>
              <a:spcBef>
                <a:spcPts val="0"/>
              </a:spcBef>
              <a:spcAft>
                <a:spcPts val="0"/>
              </a:spcAft>
              <a:buNone/>
            </a:pPr>
            <a:r>
              <a:rPr lang="en-US" altLang="en-US" b="1">
                <a:latin typeface="Times New Roman" panose="02020603050405020304" pitchFamily="18" charset="0"/>
                <a:cs typeface="Times New Roman" panose="02020603050405020304" pitchFamily="18" charset="0"/>
                <a:sym typeface="+mn-ea"/>
              </a:rPr>
              <a:t>(ii). Application software (accounting, design, productivity tools): </a:t>
            </a:r>
            <a:r>
              <a:rPr lang="en-US" altLang="en-US">
                <a:latin typeface="Times New Roman" panose="02020603050405020304" pitchFamily="18" charset="0"/>
                <a:cs typeface="Times New Roman" panose="02020603050405020304" pitchFamily="18" charset="0"/>
                <a:sym typeface="+mn-ea"/>
              </a:rPr>
              <a:t>is a type of software designed to help users perform specific tasks or activities such as accounting, graphic design, writing documents, or managing projects.</a:t>
            </a:r>
            <a:endParaRPr lang="en-US" altLang="en-US" b="1">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dirty="0">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p:txBody>
          <a:bodyPr>
            <a:normAutofit/>
          </a:bodyPr>
          <a:p>
            <a:pPr marL="0" indent="0" algn="just">
              <a:lnSpc>
                <a:spcPct val="100000"/>
              </a:lnSpc>
              <a:spcBef>
                <a:spcPts val="0"/>
              </a:spcBef>
              <a:spcAft>
                <a:spcPts val="0"/>
              </a:spcAft>
              <a:buNone/>
            </a:pPr>
            <a:r>
              <a:rPr lang="en-US" altLang="en-US" b="1">
                <a:latin typeface="Times New Roman" panose="02020603050405020304" pitchFamily="18" charset="0"/>
                <a:cs typeface="Times New Roman" panose="02020603050405020304" pitchFamily="18" charset="0"/>
                <a:sym typeface="+mn-ea"/>
              </a:rPr>
              <a:t>(iii). SaaS (Software as a Service): </a:t>
            </a:r>
            <a:r>
              <a:rPr lang="en-US" altLang="en-US">
                <a:latin typeface="Times New Roman" panose="02020603050405020304" pitchFamily="18" charset="0"/>
                <a:cs typeface="Times New Roman" panose="02020603050405020304" pitchFamily="18" charset="0"/>
              </a:rPr>
              <a:t>is a type of software delivery model where applications are hosted on the cloud and accessed through the internet, rather than being installed on a local computer. For example a salesforce.</a:t>
            </a:r>
            <a:endParaRPr lang="en-US" altLang="en-US">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endParaRPr lang="en-US" altLang="en-US">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r>
              <a:rPr lang="en-US" altLang="en-US">
                <a:latin typeface="Times New Roman" panose="02020603050405020304" pitchFamily="18" charset="0"/>
                <a:cs typeface="Times New Roman" panose="02020603050405020304" pitchFamily="18" charset="0"/>
              </a:rPr>
              <a:t>In software marketing, SaaS marketing refers to the strategies used to promote, sell, and retain customers for cloud-based software services that operate on a subscription model.</a:t>
            </a:r>
            <a:endParaRPr lang="en-US" alt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dirty="0">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838200" y="1825625"/>
            <a:ext cx="10515600" cy="4857115"/>
          </a:xfrm>
        </p:spPr>
        <p:txBody>
          <a:bodyPr/>
          <a:p>
            <a:pPr marL="0" indent="0" algn="just">
              <a:lnSpc>
                <a:spcPct val="100000"/>
              </a:lnSpc>
              <a:spcBef>
                <a:spcPts val="0"/>
              </a:spcBef>
              <a:spcAft>
                <a:spcPts val="0"/>
              </a:spcAft>
              <a:buNone/>
            </a:pPr>
            <a:r>
              <a:rPr lang="en-US" altLang="en-US" sz="3200" b="1">
                <a:latin typeface="Times New Roman" panose="02020603050405020304" pitchFamily="18" charset="0"/>
                <a:cs typeface="Times New Roman" panose="02020603050405020304" pitchFamily="18" charset="0"/>
                <a:sym typeface="+mn-ea"/>
              </a:rPr>
              <a:t>(iv). Mobile and web applications: </a:t>
            </a:r>
            <a:r>
              <a:rPr lang="en-US" altLang="en-US" sz="3200">
                <a:latin typeface="Times New Roman" panose="02020603050405020304" pitchFamily="18" charset="0"/>
                <a:cs typeface="Times New Roman" panose="02020603050405020304" pitchFamily="18" charset="0"/>
              </a:rPr>
              <a:t>are a type of software applications designed to run on mobile devices (smartphones) or web browsers.</a:t>
            </a:r>
            <a:endParaRPr lang="en-US" altLang="en-US" sz="3200">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endParaRPr lang="en-US" altLang="en-US" sz="3200">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r>
              <a:rPr lang="en-US" altLang="en-US" sz="3200">
                <a:latin typeface="Times New Roman" panose="02020603050405020304" pitchFamily="18" charset="0"/>
                <a:cs typeface="Times New Roman" panose="02020603050405020304" pitchFamily="18" charset="0"/>
              </a:rPr>
              <a:t>In software marketing, mobile and web application marketing refers to the strategies used to promote, distribute, and monetize applications that users access through mobile devices or the internet.</a:t>
            </a: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43255"/>
          </a:xfrm>
        </p:spPr>
        <p:txBody>
          <a:bodyPr>
            <a:normAutofit fontScale="90000"/>
          </a:bodyPr>
          <a:p>
            <a:r>
              <a:rPr lang="en-US" b="1" i="1" dirty="0">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838200" y="1083945"/>
            <a:ext cx="10515600" cy="5622925"/>
          </a:xfrm>
        </p:spPr>
        <p:txBody>
          <a:bodyPr/>
          <a:p>
            <a:pPr marL="0" indent="0" algn="just">
              <a:lnSpc>
                <a:spcPct val="100000"/>
              </a:lnSpc>
              <a:spcBef>
                <a:spcPts val="0"/>
              </a:spcBef>
              <a:spcAft>
                <a:spcPts val="0"/>
              </a:spcAft>
              <a:buNone/>
            </a:pPr>
            <a:r>
              <a:rPr lang="en-US" altLang="en-US" sz="3200" b="1">
                <a:latin typeface="Times New Roman" panose="02020603050405020304" pitchFamily="18" charset="0"/>
                <a:cs typeface="Times New Roman" panose="02020603050405020304" pitchFamily="18" charset="0"/>
                <a:sym typeface="+mn-ea"/>
              </a:rPr>
              <a:t>(v). Security software (antivirus, firewall solutions):</a:t>
            </a:r>
            <a:r>
              <a:rPr lang="en-US" altLang="en-US" sz="3200">
                <a:latin typeface="Times New Roman" panose="02020603050405020304" pitchFamily="18" charset="0"/>
                <a:cs typeface="Times New Roman" panose="02020603050405020304" pitchFamily="18" charset="0"/>
                <a:sym typeface="+mn-ea"/>
              </a:rPr>
              <a:t> </a:t>
            </a:r>
            <a:r>
              <a:rPr lang="en-US" altLang="en-US" sz="3200">
                <a:latin typeface="Times New Roman" panose="02020603050405020304" pitchFamily="18" charset="0"/>
                <a:cs typeface="Times New Roman" panose="02020603050405020304" pitchFamily="18" charset="0"/>
                <a:sym typeface="+mn-ea"/>
              </a:rPr>
              <a:t>is a type of software designed to protect computers, networks, and data from cyber threats such as viruses, malware, hacking, and unauthorized access.</a:t>
            </a:r>
            <a:endParaRPr lang="en-US" altLang="en-US" sz="3200">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endParaRPr lang="en-US" altLang="en-US" sz="3200">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r>
              <a:rPr lang="en-US" altLang="en-US" sz="3200">
                <a:latin typeface="Times New Roman" panose="02020603050405020304" pitchFamily="18" charset="0"/>
                <a:cs typeface="Times New Roman" panose="02020603050405020304" pitchFamily="18" charset="0"/>
                <a:sym typeface="+mn-ea"/>
              </a:rPr>
              <a:t>In software marketing, security software marketing refers to the strategies used to promote and sell cybersecurity solutions that protect digital systems, personal data, and organizational networks.</a:t>
            </a:r>
            <a:endParaRPr lang="en-US" altLang="en-US" sz="3200" b="1">
              <a:latin typeface="Times New Roman" panose="02020603050405020304" pitchFamily="18" charset="0"/>
              <a:cs typeface="Times New Roman" panose="02020603050405020304" pitchFamily="18" charset="0"/>
            </a:endParaRPr>
          </a:p>
          <a:p>
            <a:endParaRPr lang="en-US" altLang="en-US"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dirty="0">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p:txBody>
          <a:bodyPr/>
          <a:p>
            <a:pPr marL="0" indent="0" algn="just">
              <a:lnSpc>
                <a:spcPct val="100000"/>
              </a:lnSpc>
              <a:spcBef>
                <a:spcPts val="0"/>
              </a:spcBef>
              <a:spcAft>
                <a:spcPts val="0"/>
              </a:spcAft>
              <a:buNone/>
            </a:pPr>
            <a:r>
              <a:rPr lang="en-US" altLang="en-US" sz="3600" b="1">
                <a:latin typeface="Times New Roman" panose="02020603050405020304" pitchFamily="18" charset="0"/>
                <a:cs typeface="Times New Roman" panose="02020603050405020304" pitchFamily="18" charset="0"/>
                <a:sym typeface="+mn-ea"/>
              </a:rPr>
              <a:t>Examples include:</a:t>
            </a:r>
            <a:endParaRPr lang="en-US" altLang="en-US" sz="3600" b="1">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r>
              <a:rPr lang="en-US" altLang="en-US" sz="3600">
                <a:latin typeface="Times New Roman" panose="02020603050405020304" pitchFamily="18" charset="0"/>
                <a:cs typeface="Times New Roman" panose="02020603050405020304" pitchFamily="18" charset="0"/>
                <a:sym typeface="+mn-ea"/>
              </a:rPr>
              <a:t>Microsoft (Windows, Office 365)</a:t>
            </a:r>
            <a:endParaRPr lang="en-US" altLang="en-US" sz="3600">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r>
              <a:rPr lang="en-US" altLang="en-US" sz="3600">
                <a:latin typeface="Times New Roman" panose="02020603050405020304" pitchFamily="18" charset="0"/>
                <a:cs typeface="Times New Roman" panose="02020603050405020304" pitchFamily="18" charset="0"/>
                <a:sym typeface="+mn-ea"/>
              </a:rPr>
              <a:t>SAP (ERP systems)</a:t>
            </a:r>
            <a:endParaRPr lang="en-US" altLang="en-US" sz="3600">
              <a:latin typeface="Times New Roman" panose="02020603050405020304" pitchFamily="18" charset="0"/>
              <a:cs typeface="Times New Roman" panose="02020603050405020304" pitchFamily="18" charset="0"/>
            </a:endParaRPr>
          </a:p>
          <a:p>
            <a:pPr algn="just">
              <a:lnSpc>
                <a:spcPct val="100000"/>
              </a:lnSpc>
              <a:spcBef>
                <a:spcPts val="0"/>
              </a:spcBef>
              <a:spcAft>
                <a:spcPts val="0"/>
              </a:spcAft>
            </a:pPr>
            <a:r>
              <a:rPr lang="en-US" altLang="en-US" sz="3600">
                <a:latin typeface="Times New Roman" panose="02020603050405020304" pitchFamily="18" charset="0"/>
                <a:cs typeface="Times New Roman" panose="02020603050405020304" pitchFamily="18" charset="0"/>
                <a:sym typeface="+mn-ea"/>
              </a:rPr>
              <a:t>Salesforce (CRM SaaS platform)</a:t>
            </a:r>
            <a:endParaRPr lang="en-US" altLang="en-US" sz="3600">
              <a:latin typeface="Times New Roman" panose="02020603050405020304" pitchFamily="18" charset="0"/>
              <a:cs typeface="Times New Roman" panose="02020603050405020304" pitchFamily="18" charset="0"/>
            </a:endParaRPr>
          </a:p>
          <a:p>
            <a:endParaRPr lang="en-US" altLang="en-US"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3985"/>
            <a:ext cx="10515600" cy="729615"/>
          </a:xfrm>
        </p:spPr>
        <p:txBody>
          <a:bodyPr>
            <a:normAutofit/>
          </a:bodyPr>
          <a:p>
            <a:r>
              <a:rPr lang="en-US" altLang="en-US" b="1">
                <a:latin typeface="Times New Roman" panose="02020603050405020304" pitchFamily="18" charset="0"/>
                <a:cs typeface="Times New Roman" panose="02020603050405020304" pitchFamily="18" charset="0"/>
                <a:sym typeface="+mn-ea"/>
              </a:rPr>
              <a:t>B. Marketing Focus Areas</a:t>
            </a:r>
            <a:endParaRPr lang="en-US"/>
          </a:p>
        </p:txBody>
      </p:sp>
      <p:sp>
        <p:nvSpPr>
          <p:cNvPr id="3" name="Content Placeholder 2"/>
          <p:cNvSpPr>
            <a:spLocks noGrp="1"/>
          </p:cNvSpPr>
          <p:nvPr>
            <p:ph idx="1"/>
          </p:nvPr>
        </p:nvSpPr>
        <p:spPr>
          <a:xfrm>
            <a:off x="414655" y="1031240"/>
            <a:ext cx="10939145" cy="5744210"/>
          </a:xfrm>
        </p:spPr>
        <p:txBody>
          <a:bodyPr>
            <a:normAutofit/>
          </a:bodyPr>
          <a:p>
            <a:pPr marL="0" indent="0">
              <a:buNone/>
            </a:pPr>
            <a:r>
              <a:rPr lang="en-US" altLang="en-US" b="1">
                <a:latin typeface="Times New Roman" panose="02020603050405020304" pitchFamily="18" charset="0"/>
                <a:cs typeface="Times New Roman" panose="02020603050405020304" pitchFamily="18" charset="0"/>
              </a:rPr>
              <a:t>(i). Value Proposition: </a:t>
            </a:r>
            <a:r>
              <a:rPr lang="en-US" altLang="en-US">
                <a:latin typeface="Times New Roman" panose="02020603050405020304" pitchFamily="18" charset="0"/>
                <a:cs typeface="Times New Roman" panose="02020603050405020304" pitchFamily="18" charset="0"/>
              </a:rPr>
              <a:t>A value proposition in marketing of IT refers to a clear statement that explains how an IT product or service solves a customer’s problem, delivers specific benefits, and differentiates itself from competitors. (Efficiency improvement, Cost reduction, Automation of business processes and Data-driven decision-making</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It answers three key questions:</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1.What problem does the IT solution solve?</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2.What benefits does the customer gain?</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3.Why should the customer choose this solution over others?</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In IT marketing, the value proposition must be clear, measurable, and outcome-focused, because customers often invest large amounts in technology and expect performance, reliability, and return on investment (ROI).</a:t>
            </a:r>
            <a:endParaRPr lang="en-US" altLang="en-US">
              <a:latin typeface="Times New Roman" panose="02020603050405020304" pitchFamily="18" charset="0"/>
              <a:cs typeface="Times New Roman" panose="02020603050405020304" pitchFamily="18" charset="0"/>
            </a:endParaRPr>
          </a:p>
          <a:p>
            <a:pPr marL="0" indent="0">
              <a:buNone/>
            </a:pP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p:txBody>
          <a:bodyPr>
            <a:normAutofit/>
          </a:bodyPr>
          <a:p>
            <a:pPr marL="0" indent="0">
              <a:buNone/>
            </a:pPr>
            <a:r>
              <a:rPr lang="en-US" altLang="en-US" b="1">
                <a:latin typeface="Times New Roman" panose="02020603050405020304" pitchFamily="18" charset="0"/>
                <a:cs typeface="Times New Roman" panose="02020603050405020304" pitchFamily="18" charset="0"/>
                <a:sym typeface="+mn-ea"/>
              </a:rPr>
              <a:t>(ii). Subscription &amp; Licensing Models: </a:t>
            </a:r>
            <a:r>
              <a:rPr lang="en-US" altLang="en-US">
                <a:latin typeface="Times New Roman" panose="02020603050405020304" pitchFamily="18" charset="0"/>
                <a:cs typeface="Times New Roman" panose="02020603050405020304" pitchFamily="18" charset="0"/>
                <a:sym typeface="+mn-ea"/>
              </a:rPr>
              <a:t>In software marketing, Subscription and Licensing Models refer to the pricing and revenue strategies used to sell and distribute software products. These models determine how customers access the software, how they pay for it, and what rights they have to use it. (Freemium, Tiered pricing, Monthly/annual subscriptions and Enterprise licensing)</a:t>
            </a:r>
            <a:endParaRPr lang="en-US" altLang="en-US">
              <a:latin typeface="Times New Roman" panose="02020603050405020304" pitchFamily="18" charset="0"/>
              <a:cs typeface="Times New Roman" panose="02020603050405020304" pitchFamily="18" charset="0"/>
              <a:sym typeface="+mn-ea"/>
            </a:endParaRPr>
          </a:p>
          <a:p>
            <a:pPr marL="0" indent="0">
              <a:buNone/>
            </a:pPr>
            <a:r>
              <a:rPr lang="en-US" altLang="en-US">
                <a:latin typeface="Times New Roman" panose="02020603050405020304" pitchFamily="18" charset="0"/>
                <a:cs typeface="Times New Roman" panose="02020603050405020304" pitchFamily="18" charset="0"/>
              </a:rPr>
              <a:t>A subscription model is a pricing strategy where customers pay a recurring fee (monthly, quarterly, or annually) to access and use software.</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This model is common in Software as a Service (SaaS) businesses.</a:t>
            </a:r>
            <a:endParaRPr lang="en-US" alt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335915"/>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426085" y="807085"/>
            <a:ext cx="11480800" cy="5817870"/>
          </a:xfrm>
        </p:spPr>
        <p:txBody>
          <a:bodyPr>
            <a:normAutofit fontScale="90000"/>
          </a:bodyPr>
          <a:p>
            <a:pPr marL="0" indent="0" algn="just">
              <a:buNone/>
            </a:pPr>
            <a:r>
              <a:rPr lang="en-US" altLang="en-US" b="1">
                <a:latin typeface="Times New Roman" panose="02020603050405020304" pitchFamily="18" charset="0"/>
                <a:cs typeface="Times New Roman" panose="02020603050405020304" pitchFamily="18" charset="0"/>
                <a:sym typeface="+mn-ea"/>
              </a:rPr>
              <a:t>(iii). Demonstration &amp; Trials: </a:t>
            </a:r>
            <a:r>
              <a:rPr lang="en-US" altLang="en-US">
                <a:latin typeface="Times New Roman" panose="02020603050405020304" pitchFamily="18" charset="0"/>
                <a:cs typeface="Times New Roman" panose="02020603050405020304" pitchFamily="18" charset="0"/>
                <a:sym typeface="+mn-ea"/>
              </a:rPr>
              <a:t>In software marketing, Demonstrations &amp; Trials are promotional strategies used to allow potential customers to experience the software before making a purchase decision. They help reduce uncertainty, build trust, and showcase value. (Free trials, Product demos and Webinars and tutorials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A software demonstration (demo) is a guided presentation that shows how the software works, its features, and its benefits.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Purpose of Demonstrations</a:t>
            </a:r>
            <a:endParaRPr lang="en-US" altLang="en-US" b="1">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 Showcase key features and functionalities</a:t>
            </a:r>
            <a:endParaRPr lang="en-US" altLang="en-US">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Highlight competitive advantages</a:t>
            </a:r>
            <a:endParaRPr lang="en-US" altLang="en-US">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Explain technical capabilities in simple terms</a:t>
            </a:r>
            <a:endParaRPr lang="en-US" altLang="en-US">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Address customer questions in real time</a:t>
            </a:r>
            <a:endParaRPr lang="en-US" altLang="en-US">
              <a:latin typeface="Times New Roman" panose="02020603050405020304" pitchFamily="18" charset="0"/>
              <a:cs typeface="Times New Roman" panose="02020603050405020304" pitchFamily="18" charset="0"/>
            </a:endParaRPr>
          </a:p>
          <a:p>
            <a:pPr algn="just">
              <a:buFont typeface="Wingdings" panose="05000000000000000000" charset="0"/>
              <a:buChar char="Ø"/>
            </a:pPr>
            <a:r>
              <a:rPr lang="en-US" altLang="en-US">
                <a:latin typeface="Times New Roman" panose="02020603050405020304" pitchFamily="18" charset="0"/>
                <a:cs typeface="Times New Roman" panose="02020603050405020304" pitchFamily="18" charset="0"/>
              </a:rPr>
              <a:t>Build credibility and trust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dirty="0">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p:txBody>
          <a:bodyPr>
            <a:normAutofit lnSpcReduction="10000"/>
          </a:bodyPr>
          <a:p>
            <a:pPr marL="0" indent="0" algn="just">
              <a:buNone/>
            </a:pPr>
            <a:r>
              <a:rPr lang="en-US" altLang="en-US" b="1">
                <a:latin typeface="Times New Roman" panose="02020603050405020304" pitchFamily="18" charset="0"/>
                <a:cs typeface="Times New Roman" panose="02020603050405020304" pitchFamily="18" charset="0"/>
              </a:rPr>
              <a:t>(iv). Customer Support &amp; Updates: </a:t>
            </a:r>
            <a:r>
              <a:rPr lang="en-US" altLang="en-US">
                <a:latin typeface="Times New Roman" panose="02020603050405020304" pitchFamily="18" charset="0"/>
                <a:cs typeface="Times New Roman" panose="02020603050405020304" pitchFamily="18" charset="0"/>
              </a:rPr>
              <a:t>In software marketing, Customer Support &amp; Updates are key components of the overall value proposition. Unlike physical products, software requires continuous interaction with customers even after purchase. These elements help attract, retain, and build long-term relationships with users. (Continuous updates, Version upgrades and Technical support)</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In software marketing, Customer Support &amp; Updates are key components of the overall value proposition. Unlike physical products, software requires continuous interaction with customers even after purchase. These elements help attract, retain, and build long-term relationships with users.</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a:p>
            <a:pPr marL="0" indent="0" algn="just">
              <a:buNone/>
            </a:pP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60020"/>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449580" y="883285"/>
            <a:ext cx="11280775" cy="5788025"/>
          </a:xfrm>
        </p:spPr>
        <p:txBody>
          <a:bodyPr>
            <a:normAutofit fontScale="90000" lnSpcReduction="20000"/>
          </a:bodyPr>
          <a:p>
            <a:pPr marL="0" indent="0">
              <a:lnSpc>
                <a:spcPct val="150000"/>
              </a:lnSpc>
              <a:buNone/>
            </a:pPr>
            <a:r>
              <a:rPr lang="en-US" altLang="en-US" b="1">
                <a:latin typeface="Times New Roman" panose="02020603050405020304" pitchFamily="18" charset="0"/>
                <a:cs typeface="Times New Roman" panose="02020603050405020304" pitchFamily="18" charset="0"/>
                <a:sym typeface="+mn-ea"/>
              </a:rPr>
              <a:t>(v). Target Market: </a:t>
            </a:r>
            <a:r>
              <a:rPr lang="en-US" altLang="en-US">
                <a:latin typeface="Times New Roman" panose="02020603050405020304" pitchFamily="18" charset="0"/>
                <a:cs typeface="Times New Roman" panose="02020603050405020304" pitchFamily="18" charset="0"/>
                <a:sym typeface="+mn-ea"/>
              </a:rPr>
              <a:t>In software marketing, target markets refer to the specific group of customers (individuals or organizations) that a software company focuses on to sell its products or services. Because software products vary widely (enterprise systems, mobile apps, SaaS platforms, etc.), target markets are carefully defined based on customer needs, industry, size, and usage behavior. (B2B (business software) and B2C (mobile apps, productivity tools)</a:t>
            </a:r>
            <a:endParaRPr lang="en-US" altLang="en-US">
              <a:latin typeface="Times New Roman" panose="02020603050405020304" pitchFamily="18" charset="0"/>
              <a:cs typeface="Times New Roman" panose="02020603050405020304" pitchFamily="18" charset="0"/>
              <a:sym typeface="+mn-ea"/>
            </a:endParaRPr>
          </a:p>
          <a:p>
            <a:pPr marL="0" indent="0">
              <a:lnSpc>
                <a:spcPct val="150000"/>
              </a:lnSpc>
              <a:buNone/>
            </a:pPr>
            <a:r>
              <a:rPr lang="en-US" altLang="en-US">
                <a:latin typeface="Times New Roman" panose="02020603050405020304" pitchFamily="18" charset="0"/>
                <a:cs typeface="Times New Roman" panose="02020603050405020304" pitchFamily="18" charset="0"/>
              </a:rPr>
              <a:t>In software marketing, target markets refer to the specific group of customers (individuals or organizations) that a software company focuses on to sell its products or services. Because software products vary widely (enterprise systems, mobile apps, SaaS platforms, etc.), target markets are carefully defined based on customer needs, industry, size, and usage behavior.</a:t>
            </a:r>
            <a:endParaRPr lang="en-US" alt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b="1">
                <a:solidFill>
                  <a:schemeClr val="accent5"/>
                </a:solidFill>
                <a:latin typeface="Times New Roman" panose="02020603050405020304" pitchFamily="18" charset="0"/>
                <a:cs typeface="Times New Roman" panose="02020603050405020304" pitchFamily="18" charset="0"/>
                <a:sym typeface="+mn-ea"/>
              </a:rPr>
              <a:t>2. Hardware Marketing</a:t>
            </a:r>
            <a:endParaRPr lang="en-US" altLang="en-US" b="1">
              <a:solidFill>
                <a:schemeClr val="accent5"/>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p:txBody>
          <a:bodyPr>
            <a:noAutofit/>
          </a:bodyPr>
          <a:p>
            <a:pPr marL="0" indent="0" algn="just">
              <a:buNone/>
            </a:pPr>
            <a:r>
              <a:rPr lang="en-US" altLang="en-US">
                <a:latin typeface="Times New Roman" panose="02020603050405020304" pitchFamily="18" charset="0"/>
                <a:cs typeface="Times New Roman" panose="02020603050405020304" pitchFamily="18" charset="0"/>
              </a:rPr>
              <a:t>Marketing of IT, hardware refers to the physical components of technology products and systems that are offered to customers. Understanding the types of hardware helps marketers position, segment, and promote products effectively. </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Hardware Marketing is the set of strategies and activities used to promote and sell physical IT devices such as computers, servers, networking equipment, and other electronic hardware products.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Explanation</a:t>
            </a:r>
            <a:endParaRPr lang="en-US" altLang="en-US" b="1">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Unlike software, hardware products are tangible (physical) and customers often evaluate them based on performance, durability, design, price, and technical specifications. Hardware marketing focuses on showing the features, quality, reliability, and benefits of these devices.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Times New Roman" panose="02020603050405020304" pitchFamily="18" charset="0"/>
                <a:cs typeface="Times New Roman" panose="02020603050405020304" pitchFamily="18" charset="0"/>
                <a:sym typeface="+mn-ea"/>
              </a:rPr>
              <a:t>A. Types of Hardware </a:t>
            </a:r>
            <a:endParaRPr lang="en-US"/>
          </a:p>
        </p:txBody>
      </p:sp>
      <p:sp>
        <p:nvSpPr>
          <p:cNvPr id="3" name="Content Placeholder 2"/>
          <p:cNvSpPr>
            <a:spLocks noGrp="1"/>
          </p:cNvSpPr>
          <p:nvPr>
            <p:ph idx="1"/>
          </p:nvPr>
        </p:nvSpPr>
        <p:spPr>
          <a:xfrm>
            <a:off x="509270" y="1567180"/>
            <a:ext cx="11196955" cy="5021580"/>
          </a:xfrm>
        </p:spPr>
        <p:txBody>
          <a:bodyPr>
            <a:normAutofit fontScale="80000"/>
          </a:bodyPr>
          <a:p>
            <a:pPr marL="0" indent="0">
              <a:buNone/>
            </a:pPr>
            <a:r>
              <a:rPr lang="en-US" altLang="en-US" sz="4700" b="1">
                <a:latin typeface="Times New Roman" panose="02020603050405020304" pitchFamily="18" charset="0"/>
                <a:cs typeface="Times New Roman" panose="02020603050405020304" pitchFamily="18" charset="0"/>
                <a:sym typeface="+mn-ea"/>
              </a:rPr>
              <a:t>1. Computing Hardware</a:t>
            </a:r>
            <a:endParaRPr lang="en-US" altLang="en-US" sz="4700" b="1">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sym typeface="+mn-ea"/>
              </a:rPr>
              <a:t>These are devices used for processing, storing, and managing data.</a:t>
            </a:r>
            <a:endParaRPr lang="en-US" altLang="en-US">
              <a:latin typeface="Times New Roman" panose="02020603050405020304" pitchFamily="18" charset="0"/>
              <a:cs typeface="Times New Roman" panose="02020603050405020304" pitchFamily="18" charset="0"/>
            </a:endParaRPr>
          </a:p>
          <a:p>
            <a:pPr>
              <a:buFont typeface="Wingdings" panose="05000000000000000000" charset="0"/>
              <a:buChar char="ü"/>
            </a:pPr>
            <a:r>
              <a:rPr lang="en-US" altLang="en-US">
                <a:latin typeface="Times New Roman" panose="02020603050405020304" pitchFamily="18" charset="0"/>
                <a:cs typeface="Times New Roman" panose="02020603050405020304" pitchFamily="18" charset="0"/>
                <a:sym typeface="+mn-ea"/>
              </a:rPr>
              <a:t> Personal Computers (PCs) – Desktop and laptop computers for individual or business use.</a:t>
            </a:r>
            <a:endParaRPr lang="en-US" altLang="en-US">
              <a:latin typeface="Times New Roman" panose="02020603050405020304" pitchFamily="18" charset="0"/>
              <a:cs typeface="Times New Roman" panose="02020603050405020304" pitchFamily="18" charset="0"/>
              <a:sym typeface="+mn-ea"/>
            </a:endParaRPr>
          </a:p>
          <a:p>
            <a:pPr>
              <a:buFont typeface="Wingdings" panose="05000000000000000000" charset="0"/>
              <a:buChar char="ü"/>
            </a:pPr>
            <a:r>
              <a:rPr lang="en-US" altLang="en-US">
                <a:latin typeface="Times New Roman" panose="02020603050405020304" pitchFamily="18" charset="0"/>
                <a:cs typeface="Times New Roman" panose="02020603050405020304" pitchFamily="18" charset="0"/>
                <a:sym typeface="+mn-ea"/>
              </a:rPr>
              <a:t>Servers – Powerful machines that host applications, databases, or websites for businesses.</a:t>
            </a:r>
            <a:endParaRPr lang="en-US" altLang="en-US">
              <a:latin typeface="Times New Roman" panose="02020603050405020304" pitchFamily="18" charset="0"/>
              <a:cs typeface="Times New Roman" panose="02020603050405020304" pitchFamily="18" charset="0"/>
              <a:sym typeface="+mn-ea"/>
            </a:endParaRPr>
          </a:p>
          <a:p>
            <a:pPr>
              <a:buFont typeface="Wingdings" panose="05000000000000000000" charset="0"/>
              <a:buChar char="ü"/>
            </a:pPr>
            <a:r>
              <a:rPr lang="en-US" altLang="en-US">
                <a:latin typeface="Times New Roman" panose="02020603050405020304" pitchFamily="18" charset="0"/>
                <a:cs typeface="Times New Roman" panose="02020603050405020304" pitchFamily="18" charset="0"/>
                <a:sym typeface="+mn-ea"/>
              </a:rPr>
              <a:t>Workstations – High-performance computers for specialized tasks like graphics design, engineering, or scientific simulations.</a:t>
            </a:r>
            <a:endParaRPr lang="en-US" altLang="en-US">
              <a:latin typeface="Times New Roman" panose="02020603050405020304" pitchFamily="18" charset="0"/>
              <a:cs typeface="Times New Roman" panose="02020603050405020304" pitchFamily="18" charset="0"/>
              <a:sym typeface="+mn-ea"/>
            </a:endParaRPr>
          </a:p>
          <a:p>
            <a:pPr>
              <a:buFont typeface="Wingdings" panose="05000000000000000000" charset="0"/>
              <a:buChar char="ü"/>
            </a:pPr>
            <a:r>
              <a:rPr lang="en-US" altLang="en-US">
                <a:latin typeface="Times New Roman" panose="02020603050405020304" pitchFamily="18" charset="0"/>
                <a:cs typeface="Times New Roman" panose="02020603050405020304" pitchFamily="18" charset="0"/>
                <a:sym typeface="+mn-ea"/>
              </a:rPr>
              <a:t>Mainframes – Large-scale computers used by enterprises for mission-critical operations.</a:t>
            </a:r>
            <a:endParaRPr lang="en-US" altLang="en-US">
              <a:latin typeface="Times New Roman" panose="02020603050405020304" pitchFamily="18" charset="0"/>
              <a:cs typeface="Times New Roman" panose="02020603050405020304" pitchFamily="18" charset="0"/>
            </a:endParaRPr>
          </a:p>
          <a:p>
            <a:pPr marL="0" indent="0">
              <a:buNone/>
            </a:pPr>
            <a:r>
              <a:rPr lang="en-US" altLang="en-US" b="1">
                <a:latin typeface="Times New Roman" panose="02020603050405020304" pitchFamily="18" charset="0"/>
                <a:cs typeface="Times New Roman" panose="02020603050405020304" pitchFamily="18" charset="0"/>
                <a:sym typeface="+mn-ea"/>
              </a:rPr>
              <a:t>Examples:</a:t>
            </a:r>
            <a:endParaRPr lang="en-US" altLang="en-US" b="1">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Apple Inc. (iPhone)</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Dell Technologies (Servers, PCs)</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sym typeface="+mn-ea"/>
              </a:rPr>
              <a:t>Cisco Systems (Networking hardware)</a:t>
            </a:r>
            <a:endParaRPr lang="en-US" alt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p:txBody>
          <a:bodyPr/>
          <a:p>
            <a:pPr marL="0" indent="0" algn="just">
              <a:buNone/>
            </a:pPr>
            <a:r>
              <a:rPr lang="en-US" altLang="en-US" sz="3200">
                <a:latin typeface="Times New Roman" panose="02020603050405020304" pitchFamily="18" charset="0"/>
                <a:cs typeface="Times New Roman" panose="02020603050405020304" pitchFamily="18" charset="0"/>
                <a:sym typeface="+mn-ea"/>
              </a:rPr>
              <a:t>When it comes to hardware marketing in IT, the focus areas are specifically designed to address the tangible, physical nature of hardware products, the target audience, and the competitive dynamics of the market.</a:t>
            </a:r>
            <a:endParaRPr lang="en-US" altLang="en-US" sz="3200">
              <a:latin typeface="Times New Roman" panose="02020603050405020304" pitchFamily="18" charset="0"/>
              <a:cs typeface="Times New Roman" panose="02020603050405020304" pitchFamily="18" charset="0"/>
            </a:endParaRPr>
          </a:p>
          <a:p>
            <a:pPr marL="0" indent="0" algn="just">
              <a:buNone/>
            </a:pPr>
            <a:r>
              <a:rPr lang="en-US" altLang="en-US" sz="3200" b="1">
                <a:latin typeface="Times New Roman" panose="02020603050405020304" pitchFamily="18" charset="0"/>
                <a:cs typeface="Times New Roman" panose="02020603050405020304" pitchFamily="18" charset="0"/>
                <a:sym typeface="+mn-ea"/>
              </a:rPr>
              <a:t>Product Performance</a:t>
            </a:r>
            <a:endParaRPr lang="en-US" altLang="en-US" sz="3200" b="1">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sym typeface="+mn-ea"/>
              </a:rPr>
              <a:t>Speed</a:t>
            </a:r>
            <a:endParaRPr lang="en-US" altLang="en-US" sz="3200">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sym typeface="+mn-ea"/>
              </a:rPr>
              <a:t>Processing power</a:t>
            </a:r>
            <a:endParaRPr lang="en-US" altLang="en-US" sz="3200">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sym typeface="+mn-ea"/>
              </a:rPr>
              <a:t>Memory and storage capacity</a:t>
            </a:r>
            <a:endParaRPr lang="en-US" altLang="en-US" sz="3200">
              <a:latin typeface="Times New Roman" panose="02020603050405020304" pitchFamily="18" charset="0"/>
              <a:cs typeface="Times New Roman" panose="02020603050405020304" pitchFamily="18" charset="0"/>
            </a:endParaRPr>
          </a:p>
          <a:p>
            <a:pPr algn="just"/>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72770"/>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838200" y="1107440"/>
            <a:ext cx="10798175" cy="5400040"/>
          </a:xfrm>
        </p:spPr>
        <p:txBody>
          <a:bodyPr/>
          <a:p>
            <a:pPr marL="0" indent="0">
              <a:buNone/>
            </a:pPr>
            <a:r>
              <a:rPr lang="en-US" altLang="en-US" sz="4000" b="1">
                <a:latin typeface="Times New Roman" panose="02020603050405020304" pitchFamily="18" charset="0"/>
                <a:cs typeface="Times New Roman" panose="02020603050405020304" pitchFamily="18" charset="0"/>
              </a:rPr>
              <a:t>2. Mobile &amp; Portable Devices</a:t>
            </a:r>
            <a:endParaRPr lang="en-US" altLang="en-US" sz="4000" b="1">
              <a:latin typeface="Times New Roman" panose="02020603050405020304" pitchFamily="18" charset="0"/>
              <a:cs typeface="Times New Roman" panose="02020603050405020304" pitchFamily="18" charset="0"/>
            </a:endParaRPr>
          </a:p>
          <a:p>
            <a:pPr marL="0" indent="0">
              <a:buNone/>
            </a:pPr>
            <a:r>
              <a:rPr lang="en-US" altLang="en-US" sz="3200">
                <a:latin typeface="Times New Roman" panose="02020603050405020304" pitchFamily="18" charset="0"/>
                <a:cs typeface="Times New Roman" panose="02020603050405020304" pitchFamily="18" charset="0"/>
              </a:rPr>
              <a:t>Hardware designed for mobility and on-the-go computing:</a:t>
            </a:r>
            <a:endParaRPr lang="en-US" altLang="en-US" sz="320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altLang="en-US" sz="3200" b="1">
                <a:latin typeface="Times New Roman" panose="02020603050405020304" pitchFamily="18" charset="0"/>
                <a:cs typeface="Times New Roman" panose="02020603050405020304" pitchFamily="18" charset="0"/>
              </a:rPr>
              <a:t>Smartphones &amp; Tablets</a:t>
            </a:r>
            <a:r>
              <a:rPr lang="en-US" altLang="en-US" sz="3200">
                <a:latin typeface="Times New Roman" panose="02020603050405020304" pitchFamily="18" charset="0"/>
                <a:cs typeface="Times New Roman" panose="02020603050405020304" pitchFamily="18" charset="0"/>
              </a:rPr>
              <a:t> – For personal communication, business applications, and mobile computing.</a:t>
            </a:r>
            <a:endParaRPr lang="en-US" altLang="en-US" sz="320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altLang="en-US" sz="3200" b="1">
                <a:latin typeface="Times New Roman" panose="02020603050405020304" pitchFamily="18" charset="0"/>
                <a:cs typeface="Times New Roman" panose="02020603050405020304" pitchFamily="18" charset="0"/>
              </a:rPr>
              <a:t>Wearables </a:t>
            </a:r>
            <a:r>
              <a:rPr lang="en-US" altLang="en-US" sz="3200">
                <a:latin typeface="Times New Roman" panose="02020603050405020304" pitchFamily="18" charset="0"/>
                <a:cs typeface="Times New Roman" panose="02020603050405020304" pitchFamily="18" charset="0"/>
              </a:rPr>
              <a:t>– Smartwatches, fitness trackers, or AR/VR headsets.</a:t>
            </a:r>
            <a:endParaRPr lang="en-US" altLang="en-US" sz="3200">
              <a:latin typeface="Times New Roman" panose="02020603050405020304" pitchFamily="18" charset="0"/>
              <a:cs typeface="Times New Roman" panose="02020603050405020304" pitchFamily="18" charset="0"/>
            </a:endParaRPr>
          </a:p>
          <a:p>
            <a:pPr>
              <a:buFont typeface="Wingdings" panose="05000000000000000000" charset="0"/>
              <a:buChar char="v"/>
            </a:pPr>
            <a:r>
              <a:rPr lang="en-US" altLang="en-US" sz="3200" b="1">
                <a:latin typeface="Times New Roman" panose="02020603050405020304" pitchFamily="18" charset="0"/>
                <a:cs typeface="Times New Roman" panose="02020603050405020304" pitchFamily="18" charset="0"/>
              </a:rPr>
              <a:t>Laptops </a:t>
            </a:r>
            <a:r>
              <a:rPr lang="en-US" altLang="en-US" sz="3200">
                <a:latin typeface="Times New Roman" panose="02020603050405020304" pitchFamily="18" charset="0"/>
                <a:cs typeface="Times New Roman" panose="02020603050405020304" pitchFamily="18" charset="0"/>
              </a:rPr>
              <a:t>– Lightweight portable computers for work or education.</a:t>
            </a: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254000"/>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838200" y="859790"/>
            <a:ext cx="10515600" cy="5647055"/>
          </a:xfrm>
        </p:spPr>
        <p:txBody>
          <a:bodyPr>
            <a:noAutofit/>
          </a:bodyPr>
          <a:p>
            <a:pPr marL="0" indent="0" algn="just">
              <a:buNone/>
            </a:pPr>
            <a:r>
              <a:rPr lang="en-US" altLang="en-US" sz="4000" b="1">
                <a:latin typeface="Times New Roman" panose="02020603050405020304" pitchFamily="18" charset="0"/>
                <a:cs typeface="Times New Roman" panose="02020603050405020304" pitchFamily="18" charset="0"/>
              </a:rPr>
              <a:t>3. Networking Hardware</a:t>
            </a:r>
            <a:endParaRPr lang="en-US" altLang="en-US" sz="4000" b="1">
              <a:latin typeface="Times New Roman" panose="02020603050405020304" pitchFamily="18" charset="0"/>
              <a:cs typeface="Times New Roman" panose="02020603050405020304" pitchFamily="18" charset="0"/>
            </a:endParaRPr>
          </a:p>
          <a:p>
            <a:pPr marL="0" indent="0" algn="l">
              <a:buNone/>
            </a:pPr>
            <a:r>
              <a:rPr lang="en-US" altLang="en-US" sz="4000">
                <a:latin typeface="Times New Roman" panose="02020603050405020304" pitchFamily="18" charset="0"/>
                <a:cs typeface="Times New Roman" panose="02020603050405020304" pitchFamily="18" charset="0"/>
              </a:rPr>
              <a:t>Devices that enable connectivity and communication between computers and systems:</a:t>
            </a:r>
            <a:endParaRPr lang="en-US" altLang="en-US" sz="4000">
              <a:latin typeface="Times New Roman" panose="02020603050405020304" pitchFamily="18" charset="0"/>
              <a:cs typeface="Times New Roman" panose="02020603050405020304" pitchFamily="18" charset="0"/>
            </a:endParaRPr>
          </a:p>
          <a:p>
            <a:pPr algn="just">
              <a:buFont typeface="Wingdings" panose="05000000000000000000" charset="0"/>
              <a:buChar char="q"/>
            </a:pPr>
            <a:r>
              <a:rPr lang="en-US" altLang="en-US" sz="4000" b="1">
                <a:latin typeface="Times New Roman" panose="02020603050405020304" pitchFamily="18" charset="0"/>
                <a:cs typeface="Times New Roman" panose="02020603050405020304" pitchFamily="18" charset="0"/>
              </a:rPr>
              <a:t>Routers</a:t>
            </a:r>
            <a:r>
              <a:rPr lang="en-US" altLang="en-US" sz="4000">
                <a:latin typeface="Times New Roman" panose="02020603050405020304" pitchFamily="18" charset="0"/>
                <a:cs typeface="Times New Roman" panose="02020603050405020304" pitchFamily="18" charset="0"/>
              </a:rPr>
              <a:t> – Direct internet traffic between networks.</a:t>
            </a:r>
            <a:endParaRPr lang="en-US" altLang="en-US" sz="4000">
              <a:latin typeface="Times New Roman" panose="02020603050405020304" pitchFamily="18" charset="0"/>
              <a:cs typeface="Times New Roman" panose="02020603050405020304" pitchFamily="18" charset="0"/>
            </a:endParaRPr>
          </a:p>
          <a:p>
            <a:pPr algn="just">
              <a:buFont typeface="Wingdings" panose="05000000000000000000" charset="0"/>
              <a:buChar char="q"/>
            </a:pPr>
            <a:r>
              <a:rPr lang="en-US" altLang="en-US" sz="4000" b="1">
                <a:latin typeface="Times New Roman" panose="02020603050405020304" pitchFamily="18" charset="0"/>
                <a:cs typeface="Times New Roman" panose="02020603050405020304" pitchFamily="18" charset="0"/>
              </a:rPr>
              <a:t>Switches </a:t>
            </a:r>
            <a:r>
              <a:rPr lang="en-US" altLang="en-US" sz="4000">
                <a:latin typeface="Times New Roman" panose="02020603050405020304" pitchFamily="18" charset="0"/>
                <a:cs typeface="Times New Roman" panose="02020603050405020304" pitchFamily="18" charset="0"/>
              </a:rPr>
              <a:t>– Connect multiple devices within a network.</a:t>
            </a:r>
            <a:endParaRPr lang="en-US" altLang="en-US" sz="4000">
              <a:latin typeface="Times New Roman" panose="02020603050405020304" pitchFamily="18" charset="0"/>
              <a:cs typeface="Times New Roman" panose="02020603050405020304" pitchFamily="18" charset="0"/>
            </a:endParaRPr>
          </a:p>
          <a:p>
            <a:pPr algn="just">
              <a:buFont typeface="Wingdings" panose="05000000000000000000" charset="0"/>
              <a:buChar char="q"/>
            </a:pPr>
            <a:r>
              <a:rPr lang="en-US" altLang="en-US" sz="4000" b="1">
                <a:latin typeface="Times New Roman" panose="02020603050405020304" pitchFamily="18" charset="0"/>
                <a:cs typeface="Times New Roman" panose="02020603050405020304" pitchFamily="18" charset="0"/>
              </a:rPr>
              <a:t>Access Points</a:t>
            </a:r>
            <a:r>
              <a:rPr lang="en-US" altLang="en-US" sz="4000">
                <a:latin typeface="Times New Roman" panose="02020603050405020304" pitchFamily="18" charset="0"/>
                <a:cs typeface="Times New Roman" panose="02020603050405020304" pitchFamily="18" charset="0"/>
              </a:rPr>
              <a:t> – Provide wireless connectivity.</a:t>
            </a:r>
            <a:endParaRPr lang="en-US" altLang="en-US" sz="4000">
              <a:latin typeface="Times New Roman" panose="02020603050405020304" pitchFamily="18" charset="0"/>
              <a:cs typeface="Times New Roman" panose="02020603050405020304" pitchFamily="18" charset="0"/>
            </a:endParaRPr>
          </a:p>
          <a:p>
            <a:pPr algn="just">
              <a:buFont typeface="Wingdings" panose="05000000000000000000" charset="0"/>
              <a:buChar char="q"/>
            </a:pPr>
            <a:r>
              <a:rPr lang="en-US" altLang="en-US" sz="4000" b="1">
                <a:latin typeface="Times New Roman" panose="02020603050405020304" pitchFamily="18" charset="0"/>
                <a:cs typeface="Times New Roman" panose="02020603050405020304" pitchFamily="18" charset="0"/>
              </a:rPr>
              <a:t>Modems</a:t>
            </a:r>
            <a:r>
              <a:rPr lang="en-US" altLang="en-US" sz="4000">
                <a:latin typeface="Times New Roman" panose="02020603050405020304" pitchFamily="18" charset="0"/>
                <a:cs typeface="Times New Roman" panose="02020603050405020304" pitchFamily="18" charset="0"/>
              </a:rPr>
              <a:t> – Connect networks to the internet.</a:t>
            </a:r>
            <a:endParaRPr lang="en-US" alt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313055"/>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838200" y="1155065"/>
            <a:ext cx="10515600" cy="5022215"/>
          </a:xfrm>
        </p:spPr>
        <p:txBody>
          <a:bodyPr>
            <a:noAutofit/>
          </a:bodyPr>
          <a:p>
            <a:pPr marL="0" indent="0" algn="just">
              <a:buNone/>
            </a:pPr>
            <a:r>
              <a:rPr lang="en-US" altLang="en-US" sz="4400" b="1">
                <a:latin typeface="Times New Roman" panose="02020603050405020304" pitchFamily="18" charset="0"/>
                <a:cs typeface="Times New Roman" panose="02020603050405020304" pitchFamily="18" charset="0"/>
              </a:rPr>
              <a:t>4. Storage Hardware</a:t>
            </a:r>
            <a:endParaRPr lang="en-US" altLang="en-US" sz="4400" b="1">
              <a:latin typeface="Times New Roman" panose="02020603050405020304" pitchFamily="18" charset="0"/>
              <a:cs typeface="Times New Roman" panose="02020603050405020304" pitchFamily="18" charset="0"/>
            </a:endParaRPr>
          </a:p>
          <a:p>
            <a:pPr marL="0" indent="0" algn="just">
              <a:buNone/>
            </a:pPr>
            <a:r>
              <a:rPr lang="en-US" altLang="en-US" sz="3600">
                <a:latin typeface="Times New Roman" panose="02020603050405020304" pitchFamily="18" charset="0"/>
                <a:cs typeface="Times New Roman" panose="02020603050405020304" pitchFamily="18" charset="0"/>
              </a:rPr>
              <a:t>Devices used to store digital data:</a:t>
            </a:r>
            <a:endParaRPr lang="en-US" altLang="en-US" sz="3600">
              <a:latin typeface="Times New Roman" panose="02020603050405020304" pitchFamily="18" charset="0"/>
              <a:cs typeface="Times New Roman" panose="02020603050405020304" pitchFamily="18" charset="0"/>
            </a:endParaRPr>
          </a:p>
          <a:p>
            <a:pPr algn="just">
              <a:buFont typeface="Wingdings" panose="05000000000000000000" charset="0"/>
              <a:buChar char="ü"/>
            </a:pPr>
            <a:r>
              <a:rPr lang="en-US" altLang="en-US" sz="3600" b="1">
                <a:latin typeface="Times New Roman" panose="02020603050405020304" pitchFamily="18" charset="0"/>
                <a:cs typeface="Times New Roman" panose="02020603050405020304" pitchFamily="18" charset="0"/>
              </a:rPr>
              <a:t>Hard Disk Drives (HDDs) –</a:t>
            </a:r>
            <a:r>
              <a:rPr lang="en-US" altLang="en-US" sz="3600">
                <a:latin typeface="Times New Roman" panose="02020603050405020304" pitchFamily="18" charset="0"/>
                <a:cs typeface="Times New Roman" panose="02020603050405020304" pitchFamily="18" charset="0"/>
              </a:rPr>
              <a:t> Traditional magnetic storage devices.</a:t>
            </a:r>
            <a:endParaRPr lang="en-US" altLang="en-US" sz="3600">
              <a:latin typeface="Times New Roman" panose="02020603050405020304" pitchFamily="18" charset="0"/>
              <a:cs typeface="Times New Roman" panose="02020603050405020304" pitchFamily="18" charset="0"/>
            </a:endParaRPr>
          </a:p>
          <a:p>
            <a:pPr algn="just">
              <a:buFont typeface="Wingdings" panose="05000000000000000000" charset="0"/>
              <a:buChar char="ü"/>
            </a:pPr>
            <a:r>
              <a:rPr lang="en-US" altLang="en-US" sz="3600" b="1">
                <a:latin typeface="Times New Roman" panose="02020603050405020304" pitchFamily="18" charset="0"/>
                <a:cs typeface="Times New Roman" panose="02020603050405020304" pitchFamily="18" charset="0"/>
              </a:rPr>
              <a:t>Solid State Drives (SSDs) –</a:t>
            </a:r>
            <a:r>
              <a:rPr lang="en-US" altLang="en-US" sz="3600">
                <a:latin typeface="Times New Roman" panose="02020603050405020304" pitchFamily="18" charset="0"/>
                <a:cs typeface="Times New Roman" panose="02020603050405020304" pitchFamily="18" charset="0"/>
              </a:rPr>
              <a:t> Faster, modern storage devices.</a:t>
            </a:r>
            <a:endParaRPr lang="en-US" altLang="en-US" sz="3600">
              <a:latin typeface="Times New Roman" panose="02020603050405020304" pitchFamily="18" charset="0"/>
              <a:cs typeface="Times New Roman" panose="02020603050405020304" pitchFamily="18" charset="0"/>
            </a:endParaRPr>
          </a:p>
          <a:p>
            <a:pPr algn="just">
              <a:buFont typeface="Wingdings" panose="05000000000000000000" charset="0"/>
              <a:buChar char="ü"/>
            </a:pPr>
            <a:r>
              <a:rPr lang="en-US" altLang="en-US" sz="3600" b="1">
                <a:latin typeface="Times New Roman" panose="02020603050405020304" pitchFamily="18" charset="0"/>
                <a:cs typeface="Times New Roman" panose="02020603050405020304" pitchFamily="18" charset="0"/>
              </a:rPr>
              <a:t>Network Attached Storage (NAS) </a:t>
            </a:r>
            <a:r>
              <a:rPr lang="en-US" altLang="en-US" sz="3600">
                <a:latin typeface="Times New Roman" panose="02020603050405020304" pitchFamily="18" charset="0"/>
                <a:cs typeface="Times New Roman" panose="02020603050405020304" pitchFamily="18" charset="0"/>
              </a:rPr>
              <a:t>– Storage connected to a network for shared access.</a:t>
            </a:r>
            <a:endParaRPr lang="en-US" altLang="en-US" sz="3600">
              <a:latin typeface="Times New Roman" panose="02020603050405020304" pitchFamily="18" charset="0"/>
              <a:cs typeface="Times New Roman" panose="02020603050405020304" pitchFamily="18" charset="0"/>
            </a:endParaRPr>
          </a:p>
          <a:p>
            <a:pPr algn="just">
              <a:buFont typeface="Wingdings" panose="05000000000000000000" charset="0"/>
              <a:buChar char="ü"/>
            </a:pPr>
            <a:r>
              <a:rPr lang="en-US" altLang="en-US" sz="3600" b="1">
                <a:latin typeface="Times New Roman" panose="02020603050405020304" pitchFamily="18" charset="0"/>
                <a:cs typeface="Times New Roman" panose="02020603050405020304" pitchFamily="18" charset="0"/>
              </a:rPr>
              <a:t>External Drives &amp; USB Drives –</a:t>
            </a:r>
            <a:r>
              <a:rPr lang="en-US" altLang="en-US" sz="3600">
                <a:latin typeface="Times New Roman" panose="02020603050405020304" pitchFamily="18" charset="0"/>
                <a:cs typeface="Times New Roman" panose="02020603050405020304" pitchFamily="18" charset="0"/>
              </a:rPr>
              <a:t> Portable storage solutions.</a:t>
            </a:r>
            <a:endParaRPr lang="en-US" altLang="en-US"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415925"/>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462915" y="1652270"/>
            <a:ext cx="11266805" cy="4525010"/>
          </a:xfrm>
        </p:spPr>
        <p:txBody>
          <a:bodyPr>
            <a:noAutofit/>
          </a:bodyPr>
          <a:p>
            <a:pPr marL="0" indent="0" algn="just">
              <a:lnSpc>
                <a:spcPct val="150000"/>
              </a:lnSpc>
              <a:buNone/>
            </a:pPr>
            <a:r>
              <a:rPr lang="en-US" altLang="en-US" sz="4400" b="1">
                <a:latin typeface="Times New Roman" panose="02020603050405020304" pitchFamily="18" charset="0"/>
                <a:cs typeface="Times New Roman" panose="02020603050405020304" pitchFamily="18" charset="0"/>
              </a:rPr>
              <a:t>5. Input &amp; Output Devices</a:t>
            </a:r>
            <a:endParaRPr lang="en-US" altLang="en-US" sz="4400" b="1">
              <a:latin typeface="Times New Roman" panose="02020603050405020304" pitchFamily="18" charset="0"/>
              <a:cs typeface="Times New Roman" panose="02020603050405020304" pitchFamily="18" charset="0"/>
            </a:endParaRPr>
          </a:p>
          <a:p>
            <a:pPr marL="0" indent="0" algn="just">
              <a:lnSpc>
                <a:spcPct val="150000"/>
              </a:lnSpc>
              <a:buNone/>
            </a:pPr>
            <a:r>
              <a:rPr lang="en-US" altLang="en-US" sz="3600">
                <a:latin typeface="Times New Roman" panose="02020603050405020304" pitchFamily="18" charset="0"/>
                <a:cs typeface="Times New Roman" panose="02020603050405020304" pitchFamily="18" charset="0"/>
              </a:rPr>
              <a:t>Hardware that allows users to interact with computers:</a:t>
            </a:r>
            <a:endParaRPr lang="en-US" altLang="en-US" sz="3600">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r>
              <a:rPr lang="en-US" altLang="en-US" sz="3600" b="1">
                <a:latin typeface="Times New Roman" panose="02020603050405020304" pitchFamily="18" charset="0"/>
                <a:cs typeface="Times New Roman" panose="02020603050405020304" pitchFamily="18" charset="0"/>
              </a:rPr>
              <a:t>Input Devices:</a:t>
            </a:r>
            <a:r>
              <a:rPr lang="en-US" altLang="en-US" sz="3600">
                <a:latin typeface="Times New Roman" panose="02020603050405020304" pitchFamily="18" charset="0"/>
                <a:cs typeface="Times New Roman" panose="02020603050405020304" pitchFamily="18" charset="0"/>
              </a:rPr>
              <a:t> Keyboard, mouse, scanners, microphones.</a:t>
            </a:r>
            <a:endParaRPr lang="en-US" altLang="en-US" sz="3600">
              <a:latin typeface="Times New Roman" panose="02020603050405020304" pitchFamily="18" charset="0"/>
              <a:cs typeface="Times New Roman" panose="02020603050405020304" pitchFamily="18" charset="0"/>
            </a:endParaRPr>
          </a:p>
          <a:p>
            <a:pPr algn="just">
              <a:lnSpc>
                <a:spcPct val="150000"/>
              </a:lnSpc>
              <a:buFont typeface="Wingdings" panose="05000000000000000000" charset="0"/>
              <a:buChar char="Ø"/>
            </a:pPr>
            <a:r>
              <a:rPr lang="en-US" altLang="en-US" sz="3600" b="1">
                <a:latin typeface="Times New Roman" panose="02020603050405020304" pitchFamily="18" charset="0"/>
                <a:cs typeface="Times New Roman" panose="02020603050405020304" pitchFamily="18" charset="0"/>
              </a:rPr>
              <a:t>Output Devices:</a:t>
            </a:r>
            <a:r>
              <a:rPr lang="en-US" altLang="en-US" sz="3600">
                <a:latin typeface="Times New Roman" panose="02020603050405020304" pitchFamily="18" charset="0"/>
                <a:cs typeface="Times New Roman" panose="02020603050405020304" pitchFamily="18" charset="0"/>
              </a:rPr>
              <a:t> Monitors, printers, speakers, projectors.</a:t>
            </a:r>
            <a:endParaRPr lang="en-US" altLang="en-US"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79805"/>
          </a:xfrm>
        </p:spPr>
        <p:txBody>
          <a:bodyPr/>
          <a:p>
            <a:r>
              <a:rPr lang="en-US" altLang="en-US" sz="4800" b="1">
                <a:latin typeface="Times New Roman" panose="02020603050405020304" pitchFamily="18" charset="0"/>
                <a:cs typeface="Times New Roman" panose="02020603050405020304" pitchFamily="18" charset="0"/>
                <a:sym typeface="+mn-ea"/>
              </a:rPr>
              <a:t>B. Marketing Focus Areas</a:t>
            </a:r>
            <a:endParaRPr lang="en-US" altLang="en-US" sz="4800" b="1">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452755" y="1182370"/>
            <a:ext cx="11415395" cy="4994910"/>
          </a:xfrm>
        </p:spPr>
        <p:txBody>
          <a:bodyPr>
            <a:noAutofit/>
          </a:bodyPr>
          <a:p>
            <a:pPr marL="0" indent="0" algn="just">
              <a:buNone/>
            </a:pPr>
            <a:r>
              <a:rPr lang="en-US" altLang="en-US" b="1">
                <a:latin typeface="Times New Roman" panose="02020603050405020304" pitchFamily="18" charset="0"/>
                <a:cs typeface="Times New Roman" panose="02020603050405020304" pitchFamily="18" charset="0"/>
              </a:rPr>
              <a:t>1. Quality</a:t>
            </a:r>
            <a:endParaRPr lang="en-US" altLang="en-US" b="1">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Quality in hardware marketing focuses on the product’s performance and standards: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(i). Performance standards: </a:t>
            </a:r>
            <a:r>
              <a:rPr lang="en-US" altLang="en-US">
                <a:latin typeface="Times New Roman" panose="02020603050405020304" pitchFamily="18" charset="0"/>
                <a:cs typeface="Times New Roman" panose="02020603050405020304" pitchFamily="18" charset="0"/>
              </a:rPr>
              <a:t>Does the hardware do what it promises efficiently? For example, a laptop should run smoothly at advertised speeds.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(ii). </a:t>
            </a:r>
            <a:r>
              <a:rPr lang="en-US" altLang="en-US" b="1">
                <a:latin typeface="Times New Roman" panose="02020603050405020304" pitchFamily="18" charset="0"/>
                <a:cs typeface="Times New Roman" panose="02020603050405020304" pitchFamily="18" charset="0"/>
              </a:rPr>
              <a:t>Build and materials:</a:t>
            </a:r>
            <a:r>
              <a:rPr lang="en-US" altLang="en-US">
                <a:latin typeface="Times New Roman" panose="02020603050405020304" pitchFamily="18" charset="0"/>
                <a:cs typeface="Times New Roman" panose="02020603050405020304" pitchFamily="18" charset="0"/>
              </a:rPr>
              <a:t> High-quality materials and assembly indicate durability.</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(iii). Design consistency:</a:t>
            </a:r>
            <a:r>
              <a:rPr lang="en-US" altLang="en-US">
                <a:latin typeface="Times New Roman" panose="02020603050405020304" pitchFamily="18" charset="0"/>
                <a:cs typeface="Times New Roman" panose="02020603050405020304" pitchFamily="18" charset="0"/>
              </a:rPr>
              <a:t> Products should meet brand expectations and maintain uniform quality across units.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(iv). Compliance:</a:t>
            </a:r>
            <a:r>
              <a:rPr lang="en-US" altLang="en-US">
                <a:latin typeface="Times New Roman" panose="02020603050405020304" pitchFamily="18" charset="0"/>
                <a:cs typeface="Times New Roman" panose="02020603050405020304" pitchFamily="18" charset="0"/>
              </a:rPr>
              <a:t> Meeting international or industry standards (like ISO, CE, or UL certifications) signals quality.</a:t>
            </a:r>
            <a:endParaRPr lang="en-US" altLang="en-US">
              <a:latin typeface="Times New Roman" panose="02020603050405020304" pitchFamily="18" charset="0"/>
              <a:cs typeface="Times New Roman" panose="02020603050405020304" pitchFamily="18" charset="0"/>
            </a:endParaRPr>
          </a:p>
          <a:p>
            <a:pPr marL="0" indent="0" algn="just">
              <a:buNone/>
            </a:pP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455930"/>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443230" y="821055"/>
            <a:ext cx="10910570" cy="5356225"/>
          </a:xfrm>
        </p:spPr>
        <p:txBody>
          <a:bodyPr>
            <a:noAutofit/>
          </a:bodyPr>
          <a:p>
            <a:pPr marL="0" indent="0" algn="just">
              <a:buNone/>
            </a:pPr>
            <a:r>
              <a:rPr lang="en-US" altLang="en-US" b="1">
                <a:latin typeface="Times New Roman" panose="02020603050405020304" pitchFamily="18" charset="0"/>
                <a:cs typeface="Times New Roman" panose="02020603050405020304" pitchFamily="18" charset="0"/>
              </a:rPr>
              <a:t>2. Reliability</a:t>
            </a:r>
            <a:endParaRPr lang="en-US" altLang="en-US" b="1">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Reliability emphasizes the product’s consistency and dependability over time:</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(i). Operational reliability:</a:t>
            </a:r>
            <a:r>
              <a:rPr lang="en-US" altLang="en-US">
                <a:latin typeface="Times New Roman" panose="02020603050405020304" pitchFamily="18" charset="0"/>
                <a:cs typeface="Times New Roman" panose="02020603050405020304" pitchFamily="18" charset="0"/>
              </a:rPr>
              <a:t> The product works consistently without failure.</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(ii). Longevity:</a:t>
            </a:r>
            <a:r>
              <a:rPr lang="en-US" altLang="en-US">
                <a:latin typeface="Times New Roman" panose="02020603050405020304" pitchFamily="18" charset="0"/>
                <a:cs typeface="Times New Roman" panose="02020603050405020304" pitchFamily="18" charset="0"/>
              </a:rPr>
              <a:t> Hardware that lasts longer before failing or needing repair.</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(iii). Low maintenance:</a:t>
            </a:r>
            <a:r>
              <a:rPr lang="en-US" altLang="en-US">
                <a:latin typeface="Times New Roman" panose="02020603050405020304" pitchFamily="18" charset="0"/>
                <a:cs typeface="Times New Roman" panose="02020603050405020304" pitchFamily="18" charset="0"/>
              </a:rPr>
              <a:t> Products that require minimal servicing or downtime.</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(iv). Warranty &amp; support: </a:t>
            </a:r>
            <a:r>
              <a:rPr lang="en-US" altLang="en-US">
                <a:latin typeface="Times New Roman" panose="02020603050405020304" pitchFamily="18" charset="0"/>
                <a:cs typeface="Times New Roman" panose="02020603050405020304" pitchFamily="18" charset="0"/>
              </a:rPr>
              <a:t>Strong warranties and support reinforce trust in reliability.</a:t>
            </a:r>
            <a:endParaRPr lang="en-US" altLang="en-US" b="1">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415925"/>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838200" y="622935"/>
            <a:ext cx="10515600" cy="5554345"/>
          </a:xfrm>
        </p:spPr>
        <p:txBody>
          <a:bodyPr>
            <a:noAutofit/>
          </a:bodyPr>
          <a:p>
            <a:pPr marL="0" indent="0" algn="just">
              <a:lnSpc>
                <a:spcPct val="150000"/>
              </a:lnSpc>
              <a:buNone/>
            </a:pPr>
            <a:r>
              <a:rPr lang="en-US" altLang="en-US" sz="3200" b="1">
                <a:latin typeface="Times New Roman" panose="02020603050405020304" pitchFamily="18" charset="0"/>
                <a:cs typeface="Times New Roman" panose="02020603050405020304" pitchFamily="18" charset="0"/>
                <a:sym typeface="+mn-ea"/>
              </a:rPr>
              <a:t>3. Innovation &amp; Design</a:t>
            </a:r>
            <a:endParaRPr lang="en-US" altLang="en-US" sz="3200" b="1">
              <a:latin typeface="Times New Roman" panose="02020603050405020304" pitchFamily="18" charset="0"/>
              <a:cs typeface="Times New Roman" panose="02020603050405020304" pitchFamily="18" charset="0"/>
            </a:endParaRPr>
          </a:p>
          <a:p>
            <a:pPr marL="0" indent="0" algn="just">
              <a:lnSpc>
                <a:spcPct val="150000"/>
              </a:lnSpc>
              <a:buNone/>
            </a:pPr>
            <a:r>
              <a:rPr lang="en-US" altLang="en-US" sz="3200">
                <a:latin typeface="Times New Roman" panose="02020603050405020304" pitchFamily="18" charset="0"/>
                <a:cs typeface="Times New Roman" panose="02020603050405020304" pitchFamily="18" charset="0"/>
              </a:rPr>
              <a:t>Innovation &amp; Design In the context of hardware marketing, Innovation &amp; Design refers to how a hardware product’s uniqueness, functionality, usability, and aesthetics are created, communicated, and leveraged to attract customers. </a:t>
            </a:r>
            <a:endParaRPr lang="en-US" altLang="en-US" sz="3200">
              <a:latin typeface="Times New Roman" panose="02020603050405020304" pitchFamily="18" charset="0"/>
              <a:cs typeface="Times New Roman" panose="02020603050405020304" pitchFamily="18" charset="0"/>
            </a:endParaRPr>
          </a:p>
          <a:p>
            <a:pPr marL="0" indent="0" algn="just">
              <a:lnSpc>
                <a:spcPct val="150000"/>
              </a:lnSpc>
              <a:buNone/>
            </a:pPr>
            <a:r>
              <a:rPr lang="en-US" altLang="en-US" sz="3200">
                <a:latin typeface="Times New Roman" panose="02020603050405020304" pitchFamily="18" charset="0"/>
                <a:cs typeface="Times New Roman" panose="02020603050405020304" pitchFamily="18" charset="0"/>
              </a:rPr>
              <a:t>It’s a critical marketing focus because in hardware, unlike purely digital products, tangible attributes strongly influence buying decisions. </a:t>
            </a: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376555"/>
          </a:xfrm>
        </p:spPr>
        <p:txBody>
          <a:bodyPr>
            <a:normAutofit fontScale="90000"/>
          </a:bodyPr>
          <a:p>
            <a:r>
              <a:rPr lang="en-US" b="1" i="1" dirty="0">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511810" y="846455"/>
            <a:ext cx="11228070" cy="5805170"/>
          </a:xfrm>
        </p:spPr>
        <p:txBody>
          <a:bodyPr>
            <a:normAutofit/>
          </a:bodyPr>
          <a:p>
            <a:pPr marL="0" indent="0" algn="just">
              <a:lnSpc>
                <a:spcPct val="150000"/>
              </a:lnSpc>
              <a:buNone/>
            </a:pPr>
            <a:r>
              <a:rPr lang="en-US" altLang="en-US" b="1">
                <a:latin typeface="Times New Roman" panose="02020603050405020304" pitchFamily="18" charset="0"/>
                <a:cs typeface="Times New Roman" panose="02020603050405020304" pitchFamily="18" charset="0"/>
                <a:sym typeface="+mn-ea"/>
              </a:rPr>
              <a:t>4. Distribution Channels</a:t>
            </a:r>
            <a:endParaRPr lang="en-US" altLang="en-US" b="1">
              <a:latin typeface="Times New Roman" panose="02020603050405020304" pitchFamily="18" charset="0"/>
              <a:cs typeface="Times New Roman" panose="02020603050405020304" pitchFamily="18" charset="0"/>
            </a:endParaRPr>
          </a:p>
          <a:p>
            <a:pPr marL="0" indent="0" algn="just">
              <a:lnSpc>
                <a:spcPct val="150000"/>
              </a:lnSpc>
              <a:buNone/>
            </a:pPr>
            <a:r>
              <a:rPr lang="en-US" altLang="en-US">
                <a:latin typeface="Times New Roman" panose="02020603050405020304" pitchFamily="18" charset="0"/>
                <a:cs typeface="Times New Roman" panose="02020603050405020304" pitchFamily="18" charset="0"/>
                <a:sym typeface="+mn-ea"/>
              </a:rPr>
              <a:t>Distribution Channels In hardware marketing, distribution channels refer to the paths or routes through which a hardware product (like computers, servers, networking devices, or electronic components) moves from the manufacturer to the end customer. </a:t>
            </a:r>
            <a:endParaRPr lang="en-US" altLang="en-US">
              <a:latin typeface="Times New Roman" panose="02020603050405020304" pitchFamily="18" charset="0"/>
              <a:cs typeface="Times New Roman" panose="02020603050405020304" pitchFamily="18" charset="0"/>
              <a:sym typeface="+mn-ea"/>
            </a:endParaRPr>
          </a:p>
          <a:p>
            <a:pPr marL="0" indent="0" algn="just">
              <a:lnSpc>
                <a:spcPct val="150000"/>
              </a:lnSpc>
              <a:buNone/>
            </a:pPr>
            <a:r>
              <a:rPr lang="en-US" altLang="en-US">
                <a:latin typeface="Times New Roman" panose="02020603050405020304" pitchFamily="18" charset="0"/>
                <a:cs typeface="Times New Roman" panose="02020603050405020304" pitchFamily="18" charset="0"/>
                <a:sym typeface="+mn-ea"/>
              </a:rPr>
              <a:t>These channels are crucial because they determine how efficiently and effectively the product reaches the market, and they also influence pricing, customer experience, and overall sales performance.</a:t>
            </a:r>
            <a:endParaRPr lang="en-US" altLang="en-US">
              <a:latin typeface="Times New Roman" panose="02020603050405020304" pitchFamily="18" charset="0"/>
              <a:cs typeface="Times New Roman" panose="02020603050405020304" pitchFamily="18" charset="0"/>
            </a:endParaRPr>
          </a:p>
          <a:p>
            <a:pPr marL="0" indent="0" algn="just">
              <a:buNone/>
            </a:pP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287020"/>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255270" y="1023620"/>
            <a:ext cx="11523345" cy="5598160"/>
          </a:xfrm>
        </p:spPr>
        <p:txBody>
          <a:bodyPr>
            <a:normAutofit fontScale="90000" lnSpcReduction="20000"/>
          </a:bodyPr>
          <a:p>
            <a:pPr marL="0" indent="0" algn="just">
              <a:lnSpc>
                <a:spcPct val="150000"/>
              </a:lnSpc>
              <a:buNone/>
            </a:pPr>
            <a:r>
              <a:rPr lang="en-US" altLang="en-US" sz="3600" b="1">
                <a:latin typeface="Times New Roman" panose="02020603050405020304" pitchFamily="18" charset="0"/>
                <a:cs typeface="Times New Roman" panose="02020603050405020304" pitchFamily="18" charset="0"/>
                <a:sym typeface="+mn-ea"/>
              </a:rPr>
              <a:t>5. Competitive Differentiation</a:t>
            </a:r>
            <a:endParaRPr lang="en-US" altLang="en-US" sz="3600" b="1">
              <a:latin typeface="Times New Roman" panose="02020603050405020304" pitchFamily="18" charset="0"/>
              <a:cs typeface="Times New Roman" panose="02020603050405020304" pitchFamily="18" charset="0"/>
            </a:endParaRPr>
          </a:p>
          <a:p>
            <a:pPr algn="just">
              <a:lnSpc>
                <a:spcPct val="150000"/>
              </a:lnSpc>
            </a:pPr>
            <a:r>
              <a:rPr lang="en-US" altLang="en-US" sz="3600">
                <a:latin typeface="Times New Roman" panose="02020603050405020304" pitchFamily="18" charset="0"/>
                <a:cs typeface="Times New Roman" panose="02020603050405020304" pitchFamily="18" charset="0"/>
              </a:rPr>
              <a:t>Competitive Differentiation In hardware marketing, competitive differentiation refers to the strategies and features that make a hardware product stand out from competitors in the market. </a:t>
            </a:r>
            <a:endParaRPr lang="en-US" altLang="en-US" sz="3600">
              <a:latin typeface="Times New Roman" panose="02020603050405020304" pitchFamily="18" charset="0"/>
              <a:cs typeface="Times New Roman" panose="02020603050405020304" pitchFamily="18" charset="0"/>
            </a:endParaRPr>
          </a:p>
          <a:p>
            <a:pPr algn="just">
              <a:lnSpc>
                <a:spcPct val="150000"/>
              </a:lnSpc>
            </a:pPr>
            <a:r>
              <a:rPr lang="en-US" altLang="en-US" sz="3600">
                <a:latin typeface="Times New Roman" panose="02020603050405020304" pitchFamily="18" charset="0"/>
                <a:cs typeface="Times New Roman" panose="02020603050405020304" pitchFamily="18" charset="0"/>
              </a:rPr>
              <a:t>It is about highlighting unique aspects that give the product a competitive advantage, influencing customers’ buying decisions, and creating a perception that the product is better, faster, more reliable, or more innovative than alternatives.</a:t>
            </a:r>
            <a:endParaRPr lang="en-US" altLang="en-US"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Autofit/>
          </a:bodyPr>
          <a:p>
            <a:r>
              <a:rPr lang="en-US" altLang="en-US" sz="5400" b="1">
                <a:solidFill>
                  <a:schemeClr val="accent5">
                    <a:lumMod val="75000"/>
                  </a:schemeClr>
                </a:solidFill>
                <a:latin typeface="Times New Roman" panose="02020603050405020304" pitchFamily="18" charset="0"/>
                <a:cs typeface="Times New Roman" panose="02020603050405020304" pitchFamily="18" charset="0"/>
                <a:sym typeface="+mn-ea"/>
              </a:rPr>
              <a:t>2. Characteristics of IT Products and Services</a:t>
            </a:r>
            <a:endParaRPr lang="en-US" altLang="en-US" sz="5400" b="1">
              <a:solidFill>
                <a:schemeClr val="accent5">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38200" y="1825625"/>
            <a:ext cx="10515600" cy="4767580"/>
          </a:xfrm>
        </p:spPr>
        <p:txBody>
          <a:bodyPr>
            <a:noAutofit/>
          </a:bodyPr>
          <a:p>
            <a:pPr marL="0" indent="0" algn="just">
              <a:buNone/>
            </a:pPr>
            <a:r>
              <a:rPr lang="en-US" altLang="en-US" sz="3200">
                <a:latin typeface="Times New Roman" panose="02020603050405020304" pitchFamily="18" charset="0"/>
                <a:cs typeface="Times New Roman" panose="02020603050405020304" pitchFamily="18" charset="0"/>
              </a:rPr>
              <a:t>IT products and services have unique features that distinguish them from physical goods.</a:t>
            </a:r>
            <a:endParaRPr lang="en-US" altLang="en-US" sz="3200">
              <a:latin typeface="Times New Roman" panose="02020603050405020304" pitchFamily="18" charset="0"/>
              <a:cs typeface="Times New Roman" panose="02020603050405020304" pitchFamily="18" charset="0"/>
            </a:endParaRPr>
          </a:p>
          <a:p>
            <a:pPr marL="0" indent="0" algn="just">
              <a:buNone/>
            </a:pPr>
            <a:r>
              <a:rPr lang="en-US" altLang="en-US" sz="3200" b="1">
                <a:latin typeface="Times New Roman" panose="02020603050405020304" pitchFamily="18" charset="0"/>
                <a:cs typeface="Times New Roman" panose="02020603050405020304" pitchFamily="18" charset="0"/>
              </a:rPr>
              <a:t>1. Intangibility</a:t>
            </a:r>
            <a:endParaRPr lang="en-US" altLang="en-US" sz="3200" b="1">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rPr>
              <a:t>Software and cloud services cannot be physically touched.</a:t>
            </a:r>
            <a:endParaRPr lang="en-US" altLang="en-US" sz="3200">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rPr>
              <a:t>Customers rely on demos, trials, and reviews before purchasing.</a:t>
            </a:r>
            <a:endParaRPr lang="en-US" altLang="en-US" sz="3200">
              <a:latin typeface="Times New Roman" panose="02020603050405020304" pitchFamily="18" charset="0"/>
              <a:cs typeface="Times New Roman" panose="02020603050405020304" pitchFamily="18" charset="0"/>
            </a:endParaRPr>
          </a:p>
          <a:p>
            <a:pPr marL="0" indent="0" algn="just">
              <a:buNone/>
            </a:pPr>
            <a:r>
              <a:rPr lang="en-US" altLang="en-US" sz="3200" b="1">
                <a:latin typeface="Times New Roman" panose="02020603050405020304" pitchFamily="18" charset="0"/>
                <a:cs typeface="Times New Roman" panose="02020603050405020304" pitchFamily="18" charset="0"/>
              </a:rPr>
              <a:t>2. Rapid Technological Change</a:t>
            </a:r>
            <a:endParaRPr lang="en-US" altLang="en-US" sz="3200" b="1">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rPr>
              <a:t>IT products evolve quickly.</a:t>
            </a:r>
            <a:endParaRPr lang="en-US" altLang="en-US" sz="3200">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rPr>
              <a:t>Frequent updates and upgrades are necessary.</a:t>
            </a:r>
            <a:endParaRPr lang="en-US" altLang="en-US" sz="3200">
              <a:latin typeface="Times New Roman" panose="02020603050405020304" pitchFamily="18" charset="0"/>
              <a:cs typeface="Times New Roman" panose="02020603050405020304" pitchFamily="18" charset="0"/>
            </a:endParaRPr>
          </a:p>
          <a:p>
            <a:pPr algn="just"/>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267335"/>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521335" y="826135"/>
            <a:ext cx="11188700" cy="5875020"/>
          </a:xfrm>
        </p:spPr>
        <p:txBody>
          <a:bodyPr/>
          <a:p>
            <a:pPr marL="0" indent="0" algn="just">
              <a:buNone/>
            </a:pPr>
            <a:r>
              <a:rPr lang="en-US" altLang="en-US" sz="3200" b="1">
                <a:latin typeface="Times New Roman" panose="02020603050405020304" pitchFamily="18" charset="0"/>
                <a:cs typeface="Times New Roman" panose="02020603050405020304" pitchFamily="18" charset="0"/>
                <a:sym typeface="+mn-ea"/>
              </a:rPr>
              <a:t>3. High Development Cost, Low Reproduction Cost</a:t>
            </a:r>
            <a:endParaRPr lang="en-US" altLang="en-US" sz="3200" b="1">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sym typeface="+mn-ea"/>
              </a:rPr>
              <a:t>Creating software requires high investment.</a:t>
            </a:r>
            <a:endParaRPr lang="en-US" altLang="en-US" sz="3200">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sym typeface="+mn-ea"/>
              </a:rPr>
              <a:t>Copying or distributing it costs very little.</a:t>
            </a:r>
            <a:endParaRPr lang="en-US" altLang="en-US" sz="3200">
              <a:latin typeface="Times New Roman" panose="02020603050405020304" pitchFamily="18" charset="0"/>
              <a:cs typeface="Times New Roman" panose="02020603050405020304" pitchFamily="18" charset="0"/>
            </a:endParaRPr>
          </a:p>
          <a:p>
            <a:pPr marL="0" indent="0" algn="just">
              <a:buNone/>
            </a:pPr>
            <a:r>
              <a:rPr lang="en-US" altLang="en-US" sz="3200" b="1">
                <a:latin typeface="Times New Roman" panose="02020603050405020304" pitchFamily="18" charset="0"/>
                <a:cs typeface="Times New Roman" panose="02020603050405020304" pitchFamily="18" charset="0"/>
                <a:sym typeface="+mn-ea"/>
              </a:rPr>
              <a:t>4. Customization</a:t>
            </a:r>
            <a:endParaRPr lang="en-US" altLang="en-US" sz="3200" b="1">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sym typeface="+mn-ea"/>
              </a:rPr>
              <a:t>IT solutions can be tailored to specific user needs.</a:t>
            </a:r>
            <a:endParaRPr lang="en-US" altLang="en-US" sz="3200">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sym typeface="+mn-ea"/>
              </a:rPr>
              <a:t>Enterprise software often requires configuration.</a:t>
            </a:r>
            <a:endParaRPr lang="en-US" altLang="en-US" sz="3200">
              <a:latin typeface="Times New Roman" panose="02020603050405020304" pitchFamily="18" charset="0"/>
              <a:cs typeface="Times New Roman" panose="02020603050405020304" pitchFamily="18" charset="0"/>
            </a:endParaRPr>
          </a:p>
          <a:p>
            <a:pPr marL="0" indent="0" algn="just">
              <a:buNone/>
            </a:pPr>
            <a:r>
              <a:rPr lang="en-US" altLang="en-US" sz="3200" b="1">
                <a:latin typeface="Times New Roman" panose="02020603050405020304" pitchFamily="18" charset="0"/>
                <a:cs typeface="Times New Roman" panose="02020603050405020304" pitchFamily="18" charset="0"/>
                <a:sym typeface="+mn-ea"/>
              </a:rPr>
              <a:t>5. Integration Capability</a:t>
            </a:r>
            <a:endParaRPr lang="en-US" altLang="en-US" sz="3200" b="1">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sym typeface="+mn-ea"/>
              </a:rPr>
              <a:t>IT systems often integrate with other systems.</a:t>
            </a:r>
            <a:endParaRPr lang="en-US" altLang="en-US" sz="3200">
              <a:latin typeface="Times New Roman" panose="02020603050405020304" pitchFamily="18" charset="0"/>
              <a:cs typeface="Times New Roman" panose="02020603050405020304" pitchFamily="18" charset="0"/>
            </a:endParaRPr>
          </a:p>
          <a:p>
            <a:pPr algn="just"/>
            <a:r>
              <a:rPr lang="en-US" altLang="en-US" sz="3200">
                <a:latin typeface="Times New Roman" panose="02020603050405020304" pitchFamily="18" charset="0"/>
                <a:cs typeface="Times New Roman" panose="02020603050405020304" pitchFamily="18" charset="0"/>
                <a:sym typeface="+mn-ea"/>
              </a:rPr>
              <a:t>Compatibility is critical.</a:t>
            </a:r>
            <a:endParaRPr lang="en-US" altLang="en-US" sz="3200">
              <a:latin typeface="Times New Roman" panose="02020603050405020304" pitchFamily="18" charset="0"/>
              <a:cs typeface="Times New Roman" panose="02020603050405020304" pitchFamily="18" charset="0"/>
            </a:endParaRPr>
          </a:p>
          <a:p>
            <a:pPr algn="just"/>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p:txBody>
          <a:bodyPr/>
          <a:p>
            <a:pPr marL="0" indent="0" algn="just">
              <a:buNone/>
            </a:pPr>
            <a:r>
              <a:rPr lang="en-US" altLang="en-US" sz="3600" b="1">
                <a:latin typeface="Times New Roman" panose="02020603050405020304" pitchFamily="18" charset="0"/>
                <a:cs typeface="Times New Roman" panose="02020603050405020304" pitchFamily="18" charset="0"/>
                <a:sym typeface="+mn-ea"/>
              </a:rPr>
              <a:t>6. Network Effects</a:t>
            </a:r>
            <a:endParaRPr lang="en-US" altLang="en-US" sz="3600" b="1">
              <a:latin typeface="Times New Roman" panose="02020603050405020304" pitchFamily="18" charset="0"/>
              <a:cs typeface="Times New Roman" panose="02020603050405020304" pitchFamily="18" charset="0"/>
            </a:endParaRPr>
          </a:p>
          <a:p>
            <a:pPr marL="0" indent="0" algn="just">
              <a:buNone/>
            </a:pPr>
            <a:r>
              <a:rPr lang="en-US" altLang="en-US" sz="3600">
                <a:latin typeface="Times New Roman" panose="02020603050405020304" pitchFamily="18" charset="0"/>
                <a:cs typeface="Times New Roman" panose="02020603050405020304" pitchFamily="18" charset="0"/>
                <a:sym typeface="+mn-ea"/>
              </a:rPr>
              <a:t>The value of some IT products increases as more users join (e.g., social platforms).</a:t>
            </a:r>
            <a:endParaRPr lang="en-US" altLang="en-US" sz="3600">
              <a:latin typeface="Times New Roman" panose="02020603050405020304" pitchFamily="18" charset="0"/>
              <a:cs typeface="Times New Roman" panose="02020603050405020304" pitchFamily="18" charset="0"/>
            </a:endParaRPr>
          </a:p>
          <a:p>
            <a:pPr marL="0" indent="0" algn="just">
              <a:buNone/>
            </a:pPr>
            <a:r>
              <a:rPr lang="en-US" altLang="en-US" sz="3600" b="1">
                <a:latin typeface="Times New Roman" panose="02020603050405020304" pitchFamily="18" charset="0"/>
                <a:cs typeface="Times New Roman" panose="02020603050405020304" pitchFamily="18" charset="0"/>
                <a:sym typeface="+mn-ea"/>
              </a:rPr>
              <a:t>7. Subscription-Based Revenue Models</a:t>
            </a:r>
            <a:endParaRPr lang="en-US" altLang="en-US" sz="3600" b="1">
              <a:latin typeface="Times New Roman" panose="02020603050405020304" pitchFamily="18" charset="0"/>
              <a:cs typeface="Times New Roman" panose="02020603050405020304" pitchFamily="18" charset="0"/>
            </a:endParaRPr>
          </a:p>
          <a:p>
            <a:pPr marL="0" indent="0" algn="just">
              <a:buNone/>
            </a:pPr>
            <a:r>
              <a:rPr lang="en-US" altLang="en-US" sz="3600">
                <a:latin typeface="Times New Roman" panose="02020603050405020304" pitchFamily="18" charset="0"/>
                <a:cs typeface="Times New Roman" panose="02020603050405020304" pitchFamily="18" charset="0"/>
                <a:sym typeface="+mn-ea"/>
              </a:rPr>
              <a:t>Many IT products operate on recurring revenue (monthly or annual payments).</a:t>
            </a:r>
            <a:endParaRPr lang="en-US" altLang="en-US" sz="3600">
              <a:latin typeface="Times New Roman" panose="02020603050405020304" pitchFamily="18" charset="0"/>
              <a:cs typeface="Times New Roman" panose="02020603050405020304" pitchFamily="18" charset="0"/>
            </a:endParaRPr>
          </a:p>
          <a:p>
            <a:pPr algn="just"/>
            <a:endParaRPr lang="en-US" altLang="en-US"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Autofit/>
          </a:bodyPr>
          <a:p>
            <a:r>
              <a:rPr b="1">
                <a:solidFill>
                  <a:schemeClr val="accent5">
                    <a:lumMod val="75000"/>
                  </a:schemeClr>
                </a:solidFill>
                <a:latin typeface="Times New Roman" panose="02020603050405020304"/>
                <a:ea typeface="Times New Roman" panose="02020603050405020304"/>
                <a:sym typeface="+mn-ea"/>
              </a:rPr>
              <a:t>3. Differences Between Traditional Marketing and IT Marketing</a:t>
            </a:r>
            <a:endParaRPr lang="en-US" b="1">
              <a:solidFill>
                <a:schemeClr val="accent5">
                  <a:lumMod val="75000"/>
                </a:schemeClr>
              </a:solidFill>
              <a:latin typeface="Times New Roman" panose="02020603050405020304"/>
              <a:ea typeface="Times New Roman" panose="02020603050405020304"/>
              <a:sym typeface="+mn-ea"/>
            </a:endParaRPr>
          </a:p>
        </p:txBody>
      </p:sp>
      <p:graphicFrame>
        <p:nvGraphicFramePr>
          <p:cNvPr id="5" name="Table 4"/>
          <p:cNvGraphicFramePr/>
          <p:nvPr>
            <p:custDataLst>
              <p:tags r:id="rId1"/>
            </p:custDataLst>
          </p:nvPr>
        </p:nvGraphicFramePr>
        <p:xfrm>
          <a:off x="551815" y="1688465"/>
          <a:ext cx="11452860" cy="5095240"/>
        </p:xfrm>
        <a:graphic>
          <a:graphicData uri="http://schemas.openxmlformats.org/drawingml/2006/table">
            <a:tbl>
              <a:tblPr/>
              <a:tblGrid>
                <a:gridCol w="3817620"/>
                <a:gridCol w="3144520"/>
                <a:gridCol w="4490720"/>
              </a:tblGrid>
              <a:tr h="636905">
                <a:tc>
                  <a:txBody>
                    <a:bodyPr/>
                    <a:p>
                      <a:pPr marL="40005" indent="0" algn="ctr">
                        <a:lnSpc>
                          <a:spcPct val="107000"/>
                        </a:lnSpc>
                        <a:spcBef>
                          <a:spcPct val="0"/>
                        </a:spcBef>
                        <a:spcAft>
                          <a:spcPct val="0"/>
                        </a:spcAft>
                      </a:pPr>
                      <a:r>
                        <a:rPr sz="2000" b="1">
                          <a:latin typeface="Times New Roman" panose="02020603050405020304"/>
                          <a:ea typeface="Times New Roman" panose="02020603050405020304"/>
                        </a:rPr>
                        <a:t>Aspect</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gn="ctr">
                        <a:lnSpc>
                          <a:spcPct val="107000"/>
                        </a:lnSpc>
                        <a:spcBef>
                          <a:spcPct val="0"/>
                        </a:spcBef>
                        <a:spcAft>
                          <a:spcPct val="0"/>
                        </a:spcAft>
                      </a:pPr>
                      <a:r>
                        <a:rPr sz="2000" b="1">
                          <a:latin typeface="Times New Roman" panose="02020603050405020304"/>
                          <a:ea typeface="Times New Roman" panose="02020603050405020304"/>
                        </a:rPr>
                        <a:t>Traditional Marketing</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gn="ctr">
                        <a:lnSpc>
                          <a:spcPct val="107000"/>
                        </a:lnSpc>
                        <a:spcBef>
                          <a:spcPct val="0"/>
                        </a:spcBef>
                        <a:spcAft>
                          <a:spcPct val="0"/>
                        </a:spcAft>
                      </a:pPr>
                      <a:r>
                        <a:rPr sz="2000" b="1">
                          <a:latin typeface="Times New Roman" panose="02020603050405020304"/>
                          <a:ea typeface="Times New Roman" panose="02020603050405020304"/>
                        </a:rPr>
                        <a:t>IT Marketing</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r>
              <a:tr h="636905">
                <a:tc>
                  <a:txBody>
                    <a:bodyPr/>
                    <a:p>
                      <a:pPr marL="40005" indent="0">
                        <a:lnSpc>
                          <a:spcPct val="107000"/>
                        </a:lnSpc>
                        <a:spcBef>
                          <a:spcPct val="0"/>
                        </a:spcBef>
                        <a:spcAft>
                          <a:spcPct val="0"/>
                        </a:spcAft>
                      </a:pPr>
                      <a:r>
                        <a:rPr sz="2000" b="1">
                          <a:latin typeface="Times New Roman" panose="02020603050405020304"/>
                          <a:ea typeface="Times New Roman" panose="02020603050405020304"/>
                        </a:rPr>
                        <a:t>Product Type</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Physical goods</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Intangible digital products</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r>
              <a:tr h="636905">
                <a:tc>
                  <a:txBody>
                    <a:bodyPr/>
                    <a:p>
                      <a:pPr marL="40005" indent="0">
                        <a:lnSpc>
                          <a:spcPct val="107000"/>
                        </a:lnSpc>
                        <a:spcBef>
                          <a:spcPct val="0"/>
                        </a:spcBef>
                        <a:spcAft>
                          <a:spcPct val="0"/>
                        </a:spcAft>
                      </a:pPr>
                      <a:r>
                        <a:rPr sz="2000" b="1">
                          <a:latin typeface="Times New Roman" panose="02020603050405020304"/>
                          <a:ea typeface="Times New Roman" panose="02020603050405020304"/>
                        </a:rPr>
                        <a:t>Sales Cycle</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Short</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Often long (especially B2B IT)</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r>
              <a:tr h="636905">
                <a:tc>
                  <a:txBody>
                    <a:bodyPr/>
                    <a:p>
                      <a:pPr marL="40005" indent="0">
                        <a:lnSpc>
                          <a:spcPct val="107000"/>
                        </a:lnSpc>
                        <a:spcBef>
                          <a:spcPct val="0"/>
                        </a:spcBef>
                        <a:spcAft>
                          <a:spcPct val="0"/>
                        </a:spcAft>
                      </a:pPr>
                      <a:r>
                        <a:rPr sz="2000" b="1">
                          <a:latin typeface="Times New Roman" panose="02020603050405020304"/>
                          <a:ea typeface="Times New Roman" panose="02020603050405020304"/>
                        </a:rPr>
                        <a:t>Distribution</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Physical stores</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Online platforms</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r>
              <a:tr h="636905">
                <a:tc>
                  <a:txBody>
                    <a:bodyPr/>
                    <a:p>
                      <a:pPr marL="40005" indent="0">
                        <a:lnSpc>
                          <a:spcPct val="107000"/>
                        </a:lnSpc>
                        <a:spcBef>
                          <a:spcPct val="0"/>
                        </a:spcBef>
                        <a:spcAft>
                          <a:spcPct val="0"/>
                        </a:spcAft>
                      </a:pPr>
                      <a:r>
                        <a:rPr sz="2000" b="1">
                          <a:latin typeface="Times New Roman" panose="02020603050405020304"/>
                          <a:ea typeface="Times New Roman" panose="02020603050405020304"/>
                        </a:rPr>
                        <a:t>Customer Education</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Moderate</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High (technical explanation needed)</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r>
              <a:tr h="636905">
                <a:tc>
                  <a:txBody>
                    <a:bodyPr/>
                    <a:p>
                      <a:pPr marL="40005" indent="0">
                        <a:lnSpc>
                          <a:spcPct val="107000"/>
                        </a:lnSpc>
                        <a:spcBef>
                          <a:spcPct val="0"/>
                        </a:spcBef>
                        <a:spcAft>
                          <a:spcPct val="0"/>
                        </a:spcAft>
                      </a:pPr>
                      <a:r>
                        <a:rPr sz="2000" b="1">
                          <a:latin typeface="Times New Roman" panose="02020603050405020304"/>
                          <a:ea typeface="Times New Roman" panose="02020603050405020304"/>
                        </a:rPr>
                        <a:t>Pricing</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Fixed price</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Subscription, freemium, usage-based</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r>
              <a:tr h="636905">
                <a:tc>
                  <a:txBody>
                    <a:bodyPr/>
                    <a:p>
                      <a:pPr marL="40005" indent="0">
                        <a:lnSpc>
                          <a:spcPct val="107000"/>
                        </a:lnSpc>
                        <a:spcBef>
                          <a:spcPct val="0"/>
                        </a:spcBef>
                        <a:spcAft>
                          <a:spcPct val="0"/>
                        </a:spcAft>
                      </a:pPr>
                      <a:r>
                        <a:rPr sz="2000" b="1">
                          <a:latin typeface="Times New Roman" panose="02020603050405020304"/>
                          <a:ea typeface="Times New Roman" panose="02020603050405020304"/>
                        </a:rPr>
                        <a:t>Product Updates</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Rare</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Frequent updates and patches</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r>
              <a:tr h="636905">
                <a:tc>
                  <a:txBody>
                    <a:bodyPr/>
                    <a:p>
                      <a:pPr marL="40005" indent="0">
                        <a:lnSpc>
                          <a:spcPct val="107000"/>
                        </a:lnSpc>
                        <a:spcBef>
                          <a:spcPct val="0"/>
                        </a:spcBef>
                        <a:spcAft>
                          <a:spcPct val="0"/>
                        </a:spcAft>
                      </a:pPr>
                      <a:r>
                        <a:rPr sz="2000" b="1">
                          <a:latin typeface="Times New Roman" panose="02020603050405020304"/>
                          <a:ea typeface="Times New Roman" panose="02020603050405020304"/>
                        </a:rPr>
                        <a:t>Customer Support</a:t>
                      </a:r>
                      <a:endParaRPr sz="2000" b="1">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Basic</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c>
                  <a:txBody>
                    <a:bodyPr/>
                    <a:p>
                      <a:pPr marL="40005" indent="0">
                        <a:lnSpc>
                          <a:spcPct val="107000"/>
                        </a:lnSpc>
                        <a:spcBef>
                          <a:spcPct val="0"/>
                        </a:spcBef>
                        <a:spcAft>
                          <a:spcPct val="0"/>
                        </a:spcAft>
                      </a:pPr>
                      <a:r>
                        <a:rPr sz="2000">
                          <a:latin typeface="Times New Roman" panose="02020603050405020304"/>
                          <a:ea typeface="Times New Roman" panose="02020603050405020304"/>
                        </a:rPr>
                        <a:t>Ongoing technical support required</a:t>
                      </a:r>
                      <a:endParaRPr sz="2000">
                        <a:latin typeface="Times New Roman" panose="02020603050405020304"/>
                        <a:ea typeface="Times New Roman" panose="02020603050405020304"/>
                      </a:endParaRPr>
                    </a:p>
                  </a:txBody>
                  <a:tcPr marL="9525" marR="9525" marT="9525" marB="9525" anchor="ctr" anchorCtr="0">
                    <a:lnL>
                      <a:noFill/>
                    </a:lnL>
                    <a:lnR>
                      <a:noFill/>
                    </a:lnR>
                    <a:lnT>
                      <a:noFill/>
                    </a:lnT>
                    <a:lnB>
                      <a:noFill/>
                    </a:lnB>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5400" b="1">
                <a:solidFill>
                  <a:schemeClr val="accent5">
                    <a:lumMod val="75000"/>
                  </a:schemeClr>
                </a:solidFill>
                <a:latin typeface="Times New Roman" panose="02020603050405020304" pitchFamily="18" charset="0"/>
                <a:cs typeface="Times New Roman" panose="02020603050405020304" pitchFamily="18" charset="0"/>
              </a:rPr>
              <a:t>1. </a:t>
            </a:r>
            <a:r>
              <a:rPr lang="en-US" altLang="en-US" sz="5400" b="1">
                <a:solidFill>
                  <a:schemeClr val="accent5">
                    <a:lumMod val="75000"/>
                  </a:schemeClr>
                </a:solidFill>
                <a:latin typeface="Times New Roman" panose="02020603050405020304" pitchFamily="18" charset="0"/>
                <a:cs typeface="Times New Roman" panose="02020603050405020304" pitchFamily="18" charset="0"/>
                <a:sym typeface="+mn-ea"/>
              </a:rPr>
              <a:t>4. Types of IT Markets</a:t>
            </a:r>
            <a:endParaRPr lang="en-US" altLang="en-US" sz="5400" b="1">
              <a:solidFill>
                <a:schemeClr val="accent5">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38200" y="1484630"/>
            <a:ext cx="10515600" cy="5246370"/>
          </a:xfrm>
        </p:spPr>
        <p:txBody>
          <a:bodyPr>
            <a:normAutofit fontScale="90000" lnSpcReduction="10000"/>
          </a:bodyPr>
          <a:p>
            <a:pPr marL="0" indent="0" algn="just">
              <a:lnSpc>
                <a:spcPct val="100000"/>
              </a:lnSpc>
              <a:buNone/>
            </a:pPr>
            <a:r>
              <a:rPr lang="en-US" altLang="en-US" b="1">
                <a:latin typeface="Times New Roman" panose="02020603050405020304" pitchFamily="18" charset="0"/>
                <a:cs typeface="Times New Roman" panose="02020603050405020304" pitchFamily="18" charset="0"/>
              </a:rPr>
              <a:t>1. B2B (Business-to-Business):</a:t>
            </a:r>
            <a:r>
              <a:rPr lang="en-US" altLang="en-US">
                <a:latin typeface="Times New Roman" panose="02020603050405020304" pitchFamily="18" charset="0"/>
                <a:cs typeface="Times New Roman" panose="02020603050405020304" pitchFamily="18" charset="0"/>
              </a:rPr>
              <a:t> refers to a type of commercial transaction where one business sells products or services to another business, rather than directly to individual consumers. In marketing, B2B focuses on meeting the needs of organizations, companies, or institutions, rather than personal consumer needs.</a:t>
            </a:r>
            <a:endParaRPr lang="en-US" altLang="en-US">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a:latin typeface="Times New Roman" panose="02020603050405020304" pitchFamily="18" charset="0"/>
                <a:cs typeface="Times New Roman" panose="02020603050405020304" pitchFamily="18" charset="0"/>
              </a:rPr>
              <a:t>IT companies sell to other businesses.</a:t>
            </a:r>
            <a:endParaRPr lang="en-US" altLang="en-US">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b="1">
                <a:latin typeface="Times New Roman" panose="02020603050405020304" pitchFamily="18" charset="0"/>
                <a:cs typeface="Times New Roman" panose="02020603050405020304" pitchFamily="18" charset="0"/>
              </a:rPr>
              <a:t>Examples:</a:t>
            </a:r>
            <a:endParaRPr lang="en-US" altLang="en-US">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Ø"/>
            </a:pPr>
            <a:r>
              <a:rPr lang="en-US" altLang="en-US">
                <a:latin typeface="Times New Roman" panose="02020603050405020304" pitchFamily="18" charset="0"/>
                <a:cs typeface="Times New Roman" panose="02020603050405020304" pitchFamily="18" charset="0"/>
              </a:rPr>
              <a:t>Enterprise software</a:t>
            </a:r>
            <a:endParaRPr lang="en-US" altLang="en-US">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Ø"/>
            </a:pPr>
            <a:r>
              <a:rPr lang="en-US" altLang="en-US">
                <a:latin typeface="Times New Roman" panose="02020603050405020304" pitchFamily="18" charset="0"/>
                <a:cs typeface="Times New Roman" panose="02020603050405020304" pitchFamily="18" charset="0"/>
              </a:rPr>
              <a:t>IT infrastructure solutions</a:t>
            </a:r>
            <a:endParaRPr lang="en-US" altLang="en-US">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b="1">
                <a:latin typeface="Times New Roman" panose="02020603050405020304" pitchFamily="18" charset="0"/>
                <a:cs typeface="Times New Roman" panose="02020603050405020304" pitchFamily="18" charset="0"/>
              </a:rPr>
              <a:t>Characteristics:</a:t>
            </a:r>
            <a:endParaRPr lang="en-US" altLang="en-US" b="1">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ü"/>
            </a:pPr>
            <a:r>
              <a:rPr lang="en-US" altLang="en-US">
                <a:latin typeface="Times New Roman" panose="02020603050405020304" pitchFamily="18" charset="0"/>
                <a:cs typeface="Times New Roman" panose="02020603050405020304" pitchFamily="18" charset="0"/>
              </a:rPr>
              <a:t>Long sales cycle</a:t>
            </a:r>
            <a:endParaRPr lang="en-US" altLang="en-US">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ü"/>
            </a:pPr>
            <a:r>
              <a:rPr lang="en-US" altLang="en-US">
                <a:latin typeface="Times New Roman" panose="02020603050405020304" pitchFamily="18" charset="0"/>
                <a:cs typeface="Times New Roman" panose="02020603050405020304" pitchFamily="18" charset="0"/>
              </a:rPr>
              <a:t>Relationship-driven</a:t>
            </a:r>
            <a:endParaRPr lang="en-US" altLang="en-US">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ü"/>
            </a:pPr>
            <a:r>
              <a:rPr lang="en-US" altLang="en-US">
                <a:latin typeface="Times New Roman" panose="02020603050405020304" pitchFamily="18" charset="0"/>
                <a:cs typeface="Times New Roman" panose="02020603050405020304" pitchFamily="18" charset="0"/>
              </a:rPr>
              <a:t>Large contracts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257175"/>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532765" y="836295"/>
            <a:ext cx="11148060" cy="5775960"/>
          </a:xfrm>
        </p:spPr>
        <p:txBody>
          <a:bodyPr>
            <a:normAutofit lnSpcReduction="10000"/>
          </a:bodyPr>
          <a:p>
            <a:pPr marL="0" indent="0" algn="just">
              <a:buNone/>
            </a:pPr>
            <a:r>
              <a:rPr lang="en-US" altLang="en-US" b="1">
                <a:latin typeface="Times New Roman" panose="02020603050405020304" pitchFamily="18" charset="0"/>
                <a:cs typeface="Times New Roman" panose="02020603050405020304" pitchFamily="18" charset="0"/>
              </a:rPr>
              <a:t>2. B2C (Business-to-Consumer):</a:t>
            </a:r>
            <a:r>
              <a:rPr lang="en-US" altLang="en-US">
                <a:latin typeface="Times New Roman" panose="02020603050405020304" pitchFamily="18" charset="0"/>
                <a:cs typeface="Times New Roman" panose="02020603050405020304" pitchFamily="18" charset="0"/>
              </a:rPr>
              <a:t> B2C is a commercial model where companies provide goods or services directly to end-users or consumers.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Unlike B2B, B2C marketing emphasizes speed, convenience, brand experience, and emotional appeal to influence individual purchase decisions.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a:latin typeface="Times New Roman" panose="02020603050405020304" pitchFamily="18" charset="0"/>
                <a:cs typeface="Times New Roman" panose="02020603050405020304" pitchFamily="18" charset="0"/>
              </a:rPr>
              <a:t>IT companies sell directly to individuals.</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Examples:</a:t>
            </a:r>
            <a:endParaRPr lang="en-US" altLang="en-US" b="1">
              <a:latin typeface="Times New Roman" panose="02020603050405020304" pitchFamily="18" charset="0"/>
              <a:cs typeface="Times New Roman" panose="02020603050405020304" pitchFamily="18" charset="0"/>
            </a:endParaRPr>
          </a:p>
          <a:p>
            <a:pPr algn="just">
              <a:buFont typeface="Wingdings" panose="05000000000000000000" charset="0"/>
              <a:buChar char="v"/>
            </a:pPr>
            <a:r>
              <a:rPr lang="en-US" altLang="en-US">
                <a:latin typeface="Times New Roman" panose="02020603050405020304" pitchFamily="18" charset="0"/>
                <a:cs typeface="Times New Roman" panose="02020603050405020304" pitchFamily="18" charset="0"/>
              </a:rPr>
              <a:t>Mobile apps</a:t>
            </a:r>
            <a:endParaRPr lang="en-US" altLang="en-US">
              <a:latin typeface="Times New Roman" panose="02020603050405020304" pitchFamily="18" charset="0"/>
              <a:cs typeface="Times New Roman" panose="02020603050405020304" pitchFamily="18" charset="0"/>
            </a:endParaRPr>
          </a:p>
          <a:p>
            <a:pPr algn="just">
              <a:buFont typeface="Wingdings" panose="05000000000000000000" charset="0"/>
              <a:buChar char="v"/>
            </a:pPr>
            <a:r>
              <a:rPr lang="en-US" altLang="en-US">
                <a:latin typeface="Times New Roman" panose="02020603050405020304" pitchFamily="18" charset="0"/>
                <a:cs typeface="Times New Roman" panose="02020603050405020304" pitchFamily="18" charset="0"/>
              </a:rPr>
              <a:t>Antivirus software</a:t>
            </a:r>
            <a:endParaRPr lang="en-US" altLang="en-US">
              <a:latin typeface="Times New Roman" panose="02020603050405020304" pitchFamily="18" charset="0"/>
              <a:cs typeface="Times New Roman" panose="02020603050405020304" pitchFamily="18" charset="0"/>
            </a:endParaRPr>
          </a:p>
          <a:p>
            <a:pPr marL="0" indent="0" algn="just">
              <a:buNone/>
            </a:pPr>
            <a:r>
              <a:rPr lang="en-US" altLang="en-US" b="1">
                <a:latin typeface="Times New Roman" panose="02020603050405020304" pitchFamily="18" charset="0"/>
                <a:cs typeface="Times New Roman" panose="02020603050405020304" pitchFamily="18" charset="0"/>
              </a:rPr>
              <a:t>Characteristics:</a:t>
            </a:r>
            <a:endParaRPr lang="en-US" altLang="en-US" b="1">
              <a:latin typeface="Times New Roman" panose="02020603050405020304" pitchFamily="18" charset="0"/>
              <a:cs typeface="Times New Roman" panose="02020603050405020304" pitchFamily="18" charset="0"/>
            </a:endParaRPr>
          </a:p>
          <a:p>
            <a:pPr algn="just">
              <a:buFont typeface="Wingdings" panose="05000000000000000000" charset="0"/>
              <a:buChar char="ü"/>
            </a:pPr>
            <a:r>
              <a:rPr lang="en-US" altLang="en-US">
                <a:latin typeface="Times New Roman" panose="02020603050405020304" pitchFamily="18" charset="0"/>
                <a:cs typeface="Times New Roman" panose="02020603050405020304" pitchFamily="18" charset="0"/>
              </a:rPr>
              <a:t>Shorter sales cycle</a:t>
            </a:r>
            <a:endParaRPr lang="en-US" altLang="en-US">
              <a:latin typeface="Times New Roman" panose="02020603050405020304" pitchFamily="18" charset="0"/>
              <a:cs typeface="Times New Roman" panose="02020603050405020304" pitchFamily="18" charset="0"/>
            </a:endParaRPr>
          </a:p>
          <a:p>
            <a:pPr algn="just">
              <a:buFont typeface="Wingdings" panose="05000000000000000000" charset="0"/>
              <a:buChar char="ü"/>
            </a:pPr>
            <a:r>
              <a:rPr lang="en-US" altLang="en-US">
                <a:latin typeface="Times New Roman" panose="02020603050405020304" pitchFamily="18" charset="0"/>
                <a:cs typeface="Times New Roman" panose="02020603050405020304" pitchFamily="18" charset="0"/>
              </a:rPr>
              <a:t>Emotional branding</a:t>
            </a:r>
            <a:endParaRPr lang="en-US" altLang="en-US">
              <a:latin typeface="Times New Roman" panose="02020603050405020304" pitchFamily="18" charset="0"/>
              <a:cs typeface="Times New Roman" panose="02020603050405020304" pitchFamily="18" charset="0"/>
            </a:endParaRPr>
          </a:p>
          <a:p>
            <a:pPr algn="just">
              <a:buFont typeface="Wingdings" panose="05000000000000000000" charset="0"/>
              <a:buChar char="ü"/>
            </a:pPr>
            <a:r>
              <a:rPr lang="en-US" altLang="en-US">
                <a:latin typeface="Times New Roman" panose="02020603050405020304" pitchFamily="18" charset="0"/>
                <a:cs typeface="Times New Roman" panose="02020603050405020304" pitchFamily="18" charset="0"/>
              </a:rPr>
              <a:t>Mass marketing strategies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218440"/>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508000" y="718820"/>
            <a:ext cx="11280775" cy="5988685"/>
          </a:xfrm>
        </p:spPr>
        <p:txBody>
          <a:bodyPr>
            <a:noAutofit/>
          </a:bodyPr>
          <a:p>
            <a:pPr marL="0" indent="0" algn="just">
              <a:lnSpc>
                <a:spcPct val="100000"/>
              </a:lnSpc>
              <a:buNone/>
            </a:pPr>
            <a:r>
              <a:rPr lang="en-US" altLang="en-US" sz="3600" b="1">
                <a:latin typeface="Times New Roman" panose="02020603050405020304" pitchFamily="18" charset="0"/>
                <a:cs typeface="Times New Roman" panose="02020603050405020304" pitchFamily="18" charset="0"/>
              </a:rPr>
              <a:t>3. SaaS (Software as a Service)</a:t>
            </a:r>
            <a:r>
              <a:rPr lang="en-US" altLang="en-US" sz="4400"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is a cloud-based software delivery model where applications are hosted by a service provider and made available to users over the internet. Unlike traditional software that requires installation on a computer or server, SaaS applications can be accessed through a web browser or mobile app, with the provider managing infrastructure, updates, and maintenance.</a:t>
            </a:r>
            <a:endParaRPr lang="en-US" altLang="en-US">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b="1">
                <a:latin typeface="Times New Roman" panose="02020603050405020304" pitchFamily="18" charset="0"/>
                <a:cs typeface="Times New Roman" panose="02020603050405020304" pitchFamily="18" charset="0"/>
              </a:rPr>
              <a:t>Examples:</a:t>
            </a:r>
            <a:endParaRPr lang="en-US" altLang="en-US" b="1">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ü"/>
            </a:pPr>
            <a:r>
              <a:rPr lang="en-US" altLang="en-US">
                <a:latin typeface="Times New Roman" panose="02020603050405020304" pitchFamily="18" charset="0"/>
                <a:cs typeface="Times New Roman" panose="02020603050405020304" pitchFamily="18" charset="0"/>
              </a:rPr>
              <a:t> CRM tool</a:t>
            </a:r>
            <a:endParaRPr lang="en-US" altLang="en-US">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ü"/>
            </a:pPr>
            <a:r>
              <a:rPr lang="en-US" altLang="en-US">
                <a:latin typeface="Times New Roman" panose="02020603050405020304" pitchFamily="18" charset="0"/>
                <a:cs typeface="Times New Roman" panose="02020603050405020304" pitchFamily="18" charset="0"/>
              </a:rPr>
              <a:t> Cloud accounting software</a:t>
            </a:r>
            <a:endParaRPr lang="en-US" altLang="en-US">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b="1">
                <a:latin typeface="Times New Roman" panose="02020603050405020304" pitchFamily="18" charset="0"/>
                <a:cs typeface="Times New Roman" panose="02020603050405020304" pitchFamily="18" charset="0"/>
              </a:rPr>
              <a:t>Key Features:</a:t>
            </a:r>
            <a:endParaRPr lang="en-US" altLang="en-US" b="1">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
            </a:pPr>
            <a:r>
              <a:rPr lang="en-US" altLang="en-US">
                <a:latin typeface="Times New Roman" panose="02020603050405020304" pitchFamily="18" charset="0"/>
                <a:cs typeface="Times New Roman" panose="02020603050405020304" pitchFamily="18" charset="0"/>
              </a:rPr>
              <a:t>No installation required</a:t>
            </a:r>
            <a:endParaRPr lang="en-US" altLang="en-US">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
            </a:pPr>
            <a:r>
              <a:rPr lang="en-US" altLang="en-US">
                <a:latin typeface="Times New Roman" panose="02020603050405020304" pitchFamily="18" charset="0"/>
                <a:cs typeface="Times New Roman" panose="02020603050405020304" pitchFamily="18" charset="0"/>
              </a:rPr>
              <a:t>Automatic updates</a:t>
            </a:r>
            <a:endParaRPr lang="en-US" altLang="en-US">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
            </a:pPr>
            <a:r>
              <a:rPr lang="en-US" altLang="en-US">
                <a:latin typeface="Times New Roman" panose="02020603050405020304" pitchFamily="18" charset="0"/>
                <a:cs typeface="Times New Roman" panose="02020603050405020304" pitchFamily="18" charset="0"/>
              </a:rPr>
              <a:t>Recurring revenue model</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18745"/>
            <a:ext cx="10515600" cy="351790"/>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461645" y="470535"/>
            <a:ext cx="10892155" cy="6107430"/>
          </a:xfrm>
        </p:spPr>
        <p:txBody>
          <a:bodyPr>
            <a:noAutofit/>
          </a:bodyPr>
          <a:p>
            <a:pPr marL="0" indent="0" algn="just">
              <a:lnSpc>
                <a:spcPct val="100000"/>
              </a:lnSpc>
              <a:buNone/>
            </a:pPr>
            <a:r>
              <a:rPr lang="en-US" altLang="en-US" b="1">
                <a:latin typeface="Times New Roman" panose="02020603050405020304" pitchFamily="18" charset="0"/>
                <a:cs typeface="Times New Roman" panose="02020603050405020304" pitchFamily="18" charset="0"/>
              </a:rPr>
              <a:t>4. PaaS (Platform as a Service):</a:t>
            </a:r>
            <a:r>
              <a:rPr lang="en-US" altLang="en-US">
                <a:latin typeface="Times New Roman" panose="02020603050405020304" pitchFamily="18" charset="0"/>
                <a:cs typeface="Times New Roman" panose="02020603050405020304" pitchFamily="18" charset="0"/>
              </a:rPr>
              <a:t> is a cloud computing service model that provides a ready-to-use platform for developing, testing, deploying, and managing applications over the internet. Unlike SaaS, which delivers software to end-users, PaaS provides a development environment where developers can focus on creating applications without worrying about the underlying infrastructure.</a:t>
            </a:r>
            <a:endParaRPr lang="en-US" altLang="en-US">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a:latin typeface="Times New Roman" panose="02020603050405020304" pitchFamily="18" charset="0"/>
                <a:cs typeface="Times New Roman" panose="02020603050405020304" pitchFamily="18" charset="0"/>
              </a:rPr>
              <a:t>In simple terms, PaaS gives developers the tools and environment to build apps, while the cloud provider manages servers, storage, and networking.</a:t>
            </a:r>
            <a:endParaRPr lang="en-US" altLang="en-US">
              <a:latin typeface="Times New Roman" panose="02020603050405020304" pitchFamily="18" charset="0"/>
              <a:cs typeface="Times New Roman" panose="02020603050405020304" pitchFamily="18" charset="0"/>
            </a:endParaRPr>
          </a:p>
          <a:p>
            <a:pPr algn="just">
              <a:lnSpc>
                <a:spcPct val="100000"/>
              </a:lnSpc>
            </a:pPr>
            <a:r>
              <a:rPr lang="en-US" altLang="en-US">
                <a:latin typeface="Times New Roman" panose="02020603050405020304" pitchFamily="18" charset="0"/>
                <a:cs typeface="Times New Roman" panose="02020603050405020304" pitchFamily="18" charset="0"/>
              </a:rPr>
              <a:t>Provides a platform for developers to build applications.</a:t>
            </a:r>
            <a:endParaRPr lang="en-US" altLang="en-US">
              <a:latin typeface="Times New Roman" panose="02020603050405020304" pitchFamily="18" charset="0"/>
              <a:cs typeface="Times New Roman" panose="02020603050405020304" pitchFamily="18" charset="0"/>
            </a:endParaRPr>
          </a:p>
          <a:p>
            <a:pPr algn="just">
              <a:lnSpc>
                <a:spcPct val="100000"/>
              </a:lnSpc>
            </a:pPr>
            <a:r>
              <a:rPr lang="en-US" altLang="en-US">
                <a:latin typeface="Times New Roman" panose="02020603050405020304" pitchFamily="18" charset="0"/>
                <a:cs typeface="Times New Roman" panose="02020603050405020304" pitchFamily="18" charset="0"/>
              </a:rPr>
              <a:t>Includes development tools and infrastructure.</a:t>
            </a:r>
            <a:endParaRPr lang="en-US" altLang="en-US">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b="1">
                <a:latin typeface="Times New Roman" panose="02020603050405020304" pitchFamily="18" charset="0"/>
                <a:cs typeface="Times New Roman" panose="02020603050405020304" pitchFamily="18" charset="0"/>
              </a:rPr>
              <a:t>Key Features:</a:t>
            </a:r>
            <a:endParaRPr lang="en-US" altLang="en-US" b="1">
              <a:latin typeface="Times New Roman" panose="02020603050405020304" pitchFamily="18" charset="0"/>
              <a:cs typeface="Times New Roman" panose="02020603050405020304" pitchFamily="18" charset="0"/>
            </a:endParaRPr>
          </a:p>
          <a:p>
            <a:pPr algn="just">
              <a:lnSpc>
                <a:spcPct val="100000"/>
              </a:lnSpc>
            </a:pPr>
            <a:r>
              <a:rPr lang="en-US" altLang="en-US">
                <a:latin typeface="Times New Roman" panose="02020603050405020304" pitchFamily="18" charset="0"/>
                <a:cs typeface="Times New Roman" panose="02020603050405020304" pitchFamily="18" charset="0"/>
              </a:rPr>
              <a:t>Used mainly by developers</a:t>
            </a:r>
            <a:endParaRPr lang="en-US" altLang="en-US">
              <a:latin typeface="Times New Roman" panose="02020603050405020304" pitchFamily="18" charset="0"/>
              <a:cs typeface="Times New Roman" panose="02020603050405020304" pitchFamily="18" charset="0"/>
            </a:endParaRPr>
          </a:p>
          <a:p>
            <a:pPr algn="just">
              <a:lnSpc>
                <a:spcPct val="100000"/>
              </a:lnSpc>
            </a:pPr>
            <a:r>
              <a:rPr lang="en-US" altLang="en-US">
                <a:latin typeface="Times New Roman" panose="02020603050405020304" pitchFamily="18" charset="0"/>
                <a:cs typeface="Times New Roman" panose="02020603050405020304" pitchFamily="18" charset="0"/>
              </a:rPr>
              <a:t>Supports application development and deployment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25145"/>
          </a:xfrm>
        </p:spPr>
        <p:txBody>
          <a:bodyPr>
            <a:normAutofit fontScale="90000"/>
          </a:bodyPr>
          <a:p>
            <a:r>
              <a:rPr lang="en-US" b="1" i="1">
                <a:latin typeface="Times New Roman" panose="02020603050405020304" pitchFamily="18" charset="0"/>
                <a:cs typeface="Times New Roman" panose="02020603050405020304" pitchFamily="18" charset="0"/>
                <a:sym typeface="+mn-ea"/>
              </a:rPr>
              <a:t>Cont’d....</a:t>
            </a:r>
            <a:endParaRPr lang="en-US"/>
          </a:p>
        </p:txBody>
      </p:sp>
      <p:sp>
        <p:nvSpPr>
          <p:cNvPr id="3" name="Content Placeholder 2"/>
          <p:cNvSpPr>
            <a:spLocks noGrp="1"/>
          </p:cNvSpPr>
          <p:nvPr>
            <p:ph idx="1"/>
          </p:nvPr>
        </p:nvSpPr>
        <p:spPr>
          <a:xfrm>
            <a:off x="838200" y="890270"/>
            <a:ext cx="10515600" cy="5287010"/>
          </a:xfrm>
        </p:spPr>
        <p:txBody>
          <a:bodyPr>
            <a:normAutofit lnSpcReduction="20000"/>
          </a:bodyPr>
          <a:p>
            <a:pPr marL="0" indent="0" algn="just">
              <a:lnSpc>
                <a:spcPct val="100000"/>
              </a:lnSpc>
              <a:buNone/>
            </a:pPr>
            <a:r>
              <a:rPr lang="en-US" altLang="en-US" sz="3600" b="1">
                <a:latin typeface="Times New Roman" panose="02020603050405020304" pitchFamily="18" charset="0"/>
                <a:cs typeface="Times New Roman" panose="02020603050405020304" pitchFamily="18" charset="0"/>
              </a:rPr>
              <a:t>5. IaaS (Infrastructure as a Service):</a:t>
            </a:r>
            <a:r>
              <a:rPr lang="en-US" altLang="en-US" sz="3200">
                <a:latin typeface="Times New Roman" panose="02020603050405020304" pitchFamily="18" charset="0"/>
                <a:cs typeface="Times New Roman" panose="02020603050405020304" pitchFamily="18" charset="0"/>
              </a:rPr>
              <a:t> is a cloud computing service model that provides virtualized computing infrastructure over the internet. Instead of buying and maintaining physical servers, storage, and networking hardware, businesses can rent these resources from a cloud provider on demand.</a:t>
            </a:r>
            <a:endParaRPr lang="en-US" altLang="en-US" sz="3200">
              <a:latin typeface="Times New Roman" panose="02020603050405020304" pitchFamily="18" charset="0"/>
              <a:cs typeface="Times New Roman" panose="02020603050405020304" pitchFamily="18" charset="0"/>
            </a:endParaRPr>
          </a:p>
          <a:p>
            <a:pPr algn="just">
              <a:lnSpc>
                <a:spcPct val="100000"/>
              </a:lnSpc>
            </a:pPr>
            <a:r>
              <a:rPr lang="en-US" altLang="en-US" sz="3200">
                <a:latin typeface="Times New Roman" panose="02020603050405020304" pitchFamily="18" charset="0"/>
                <a:cs typeface="Times New Roman" panose="02020603050405020304" pitchFamily="18" charset="0"/>
              </a:rPr>
              <a:t>Provides virtualized computing resources.</a:t>
            </a:r>
            <a:endParaRPr lang="en-US" altLang="en-US" sz="3200">
              <a:latin typeface="Times New Roman" panose="02020603050405020304" pitchFamily="18" charset="0"/>
              <a:cs typeface="Times New Roman" panose="02020603050405020304" pitchFamily="18" charset="0"/>
            </a:endParaRPr>
          </a:p>
          <a:p>
            <a:pPr algn="just">
              <a:lnSpc>
                <a:spcPct val="100000"/>
              </a:lnSpc>
            </a:pPr>
            <a:r>
              <a:rPr lang="en-US" altLang="en-US" sz="3200">
                <a:latin typeface="Times New Roman" panose="02020603050405020304" pitchFamily="18" charset="0"/>
                <a:cs typeface="Times New Roman" panose="02020603050405020304" pitchFamily="18" charset="0"/>
              </a:rPr>
              <a:t>Includes servers, storage, and networking.</a:t>
            </a:r>
            <a:endParaRPr lang="en-US" altLang="en-US" sz="320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3200" b="1">
                <a:latin typeface="Times New Roman" panose="02020603050405020304" pitchFamily="18" charset="0"/>
                <a:cs typeface="Times New Roman" panose="02020603050405020304" pitchFamily="18" charset="0"/>
              </a:rPr>
              <a:t>Key Features:</a:t>
            </a:r>
            <a:endParaRPr lang="en-US" altLang="en-US" sz="3200" b="1">
              <a:latin typeface="Times New Roman" panose="02020603050405020304" pitchFamily="18" charset="0"/>
              <a:cs typeface="Times New Roman" panose="02020603050405020304" pitchFamily="18" charset="0"/>
            </a:endParaRPr>
          </a:p>
          <a:p>
            <a:pPr algn="just">
              <a:lnSpc>
                <a:spcPct val="100000"/>
              </a:lnSpc>
            </a:pPr>
            <a:r>
              <a:rPr lang="en-US" altLang="en-US" sz="3200">
                <a:latin typeface="Times New Roman" panose="02020603050405020304" pitchFamily="18" charset="0"/>
                <a:cs typeface="Times New Roman" panose="02020603050405020304" pitchFamily="18" charset="0"/>
              </a:rPr>
              <a:t>Highly scalable</a:t>
            </a:r>
            <a:endParaRPr lang="en-US" altLang="en-US" sz="3200">
              <a:latin typeface="Times New Roman" panose="02020603050405020304" pitchFamily="18" charset="0"/>
              <a:cs typeface="Times New Roman" panose="02020603050405020304" pitchFamily="18" charset="0"/>
            </a:endParaRPr>
          </a:p>
          <a:p>
            <a:pPr algn="just">
              <a:lnSpc>
                <a:spcPct val="100000"/>
              </a:lnSpc>
            </a:pPr>
            <a:r>
              <a:rPr lang="en-US" altLang="en-US" sz="3200">
                <a:latin typeface="Times New Roman" panose="02020603050405020304" pitchFamily="18" charset="0"/>
                <a:cs typeface="Times New Roman" panose="02020603050405020304" pitchFamily="18" charset="0"/>
              </a:rPr>
              <a:t>Pay-as-you-use pricing</a:t>
            </a: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002915"/>
            <a:ext cx="10515600" cy="3174365"/>
          </a:xfrm>
        </p:spPr>
        <p:txBody>
          <a:bodyPr/>
          <a:p>
            <a:pPr marL="0" indent="0" algn="ctr">
              <a:buNone/>
            </a:pPr>
            <a:r>
              <a:rPr lang="en-US" sz="4000" b="1">
                <a:latin typeface="Times New Roman" panose="02020603050405020304" pitchFamily="18" charset="0"/>
                <a:cs typeface="Times New Roman" panose="02020603050405020304" pitchFamily="18" charset="0"/>
              </a:rPr>
              <a:t>END</a:t>
            </a:r>
            <a:r>
              <a:rPr lang="en-US"/>
              <a:t> </a:t>
            </a:r>
            <a:endParaRPr lang="en-US"/>
          </a:p>
        </p:txBody>
      </p:sp>
    </p:spTree>
  </p:cSld>
  <p:clrMapOvr>
    <a:masterClrMapping/>
  </p:clrMapOvr>
</p:sld>
</file>

<file path=ppt/tags/tag1.xml><?xml version="1.0" encoding="utf-8"?>
<p:tagLst xmlns:p="http://schemas.openxmlformats.org/presentationml/2006/main">
  <p:tag name="TABLE_ENDDRAG_ORIGIN_RECT" val="901*401"/>
  <p:tag name="TABLE_ENDDRAG_RECT" val="43*133*901*40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22695</Words>
  <Application>WPS Presentation</Application>
  <PresentationFormat>Widescreen</PresentationFormat>
  <Paragraphs>463</Paragraphs>
  <Slides>49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49</vt:i4>
      </vt:variant>
    </vt:vector>
  </HeadingPairs>
  <TitlesOfParts>
    <vt:vector size="63" baseType="lpstr">
      <vt:lpstr>Arial</vt:lpstr>
      <vt:lpstr>SimSun</vt:lpstr>
      <vt:lpstr>Wingdings</vt:lpstr>
      <vt:lpstr>Times New Roman</vt:lpstr>
      <vt:lpstr>Wingdings 2</vt:lpstr>
      <vt:lpstr>Inter</vt:lpstr>
      <vt:lpstr>Segoe Print</vt:lpstr>
      <vt:lpstr>Calibri</vt:lpstr>
      <vt:lpstr>Microsoft YaHei</vt:lpstr>
      <vt:lpstr>Arial Unicode MS</vt:lpstr>
      <vt:lpstr>Calibri Light</vt:lpstr>
      <vt:lpstr>Wingdings</vt:lpstr>
      <vt:lpstr>Times New Roman</vt:lpstr>
      <vt:lpstr>Office Theme</vt:lpstr>
      <vt:lpstr>PowerPoint 演示文稿</vt:lpstr>
      <vt:lpstr>Module Outline</vt:lpstr>
      <vt:lpstr>1.0 The origin of Marketing of IT  </vt:lpstr>
      <vt:lpstr>Cont’d....</vt:lpstr>
      <vt:lpstr>Cont’d....</vt:lpstr>
      <vt:lpstr>Cont’d....</vt:lpstr>
      <vt:lpstr>1.1 Definitions of Marketing of IT  </vt:lpstr>
      <vt:lpstr>Cont’d......</vt:lpstr>
      <vt:lpstr>Cont’d....</vt:lpstr>
      <vt:lpstr>1.2 PHILOSOPHIES IN MARKETING OF INFORMATION TECHNOLOGY</vt:lpstr>
      <vt:lpstr>1. Production Concept</vt:lpstr>
      <vt:lpstr>2. Product Concept</vt:lpstr>
      <vt:lpstr>3. Selling Concept</vt:lpstr>
      <vt:lpstr>4. Marketing Concept</vt:lpstr>
      <vt:lpstr>5. Societal Marketing Concept</vt:lpstr>
      <vt:lpstr>1.3 Marketing of IT categories</vt:lpstr>
      <vt:lpstr>1. Software Marketing</vt:lpstr>
      <vt:lpstr>A. Types of Software Marketed</vt:lpstr>
      <vt:lpstr>Cont’d......</vt:lpstr>
      <vt:lpstr>Cont’d......</vt:lpstr>
      <vt:lpstr>Cont’d......</vt:lpstr>
      <vt:lpstr>Cont’d......</vt:lpstr>
      <vt:lpstr>B. Marketing Focus Areas</vt:lpstr>
      <vt:lpstr>Cont’d....</vt:lpstr>
      <vt:lpstr>Cont’d....</vt:lpstr>
      <vt:lpstr>Cont’d......</vt:lpstr>
      <vt:lpstr>Cont’d....</vt:lpstr>
      <vt:lpstr>2. Hardware Marketing</vt:lpstr>
      <vt:lpstr>A. Types of Hardware </vt:lpstr>
      <vt:lpstr>Cont’d....</vt:lpstr>
      <vt:lpstr>Cont’d....</vt:lpstr>
      <vt:lpstr>Cont’d....</vt:lpstr>
      <vt:lpstr>Cont’d....</vt:lpstr>
      <vt:lpstr>Cont’d....</vt:lpstr>
      <vt:lpstr>B. Marketing Focus Areas</vt:lpstr>
      <vt:lpstr>Cont’d....</vt:lpstr>
      <vt:lpstr>Cont’d....</vt:lpstr>
      <vt:lpstr>Cont’d......</vt:lpstr>
      <vt:lpstr>Cont’d....</vt:lpstr>
      <vt:lpstr>2. Characteristics of IT Products and Services</vt:lpstr>
      <vt:lpstr>Cont’d....</vt:lpstr>
      <vt:lpstr>Cont’d....</vt:lpstr>
      <vt:lpstr>3. Differences Between Traditional Marketing and IT Marketing</vt:lpstr>
      <vt:lpstr>1. 4. Types of IT Markets</vt:lpstr>
      <vt:lpstr>Cont’d....</vt:lpstr>
      <vt:lpstr>Cont’d....</vt:lpstr>
      <vt:lpstr>Cont’d....</vt:lpstr>
      <vt:lpstr>Cont’d....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30</cp:revision>
  <dcterms:created xsi:type="dcterms:W3CDTF">2026-02-27T13:54:00Z</dcterms:created>
  <dcterms:modified xsi:type="dcterms:W3CDTF">2026-03-11T12:24:34Z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82B4AF688913424EBBF548DF3A3E2A50_12</vt:lpwstr>
  </property>
  <property fmtid="{D5CDD505-2E9C-101B-9397-08002B2CF9AE}" pid="3" name="KSOProductBuildVer">
    <vt:lpwstr>1033-12.2.0.23196</vt:lpwstr>
  </property>
</Properties>
</file>